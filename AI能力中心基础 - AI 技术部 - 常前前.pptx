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64" r:id="rId2"/>
    <p:sldId id="411" r:id="rId3"/>
    <p:sldId id="412" r:id="rId4"/>
    <p:sldId id="413" r:id="rId5"/>
    <p:sldId id="414" r:id="rId6"/>
    <p:sldId id="415" r:id="rId7"/>
    <p:sldId id="416" r:id="rId8"/>
    <p:sldId id="417" r:id="rId9"/>
    <p:sldId id="418" r:id="rId10"/>
    <p:sldId id="419" r:id="rId11"/>
    <p:sldId id="420" r:id="rId12"/>
    <p:sldId id="421" r:id="rId13"/>
    <p:sldId id="422" r:id="rId14"/>
    <p:sldId id="426" r:id="rId15"/>
    <p:sldId id="423" r:id="rId16"/>
    <p:sldId id="424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1pPr>
    <a:lvl2pPr marL="0" marR="0" indent="2286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2pPr>
    <a:lvl3pPr marL="0" marR="0" indent="4572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3pPr>
    <a:lvl4pPr marL="0" marR="0" indent="6858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4pPr>
    <a:lvl5pPr marL="0" marR="0" indent="9144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5pPr>
    <a:lvl6pPr marL="0" marR="0" indent="11430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6pPr>
    <a:lvl7pPr marL="0" marR="0" indent="13716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7pPr>
    <a:lvl8pPr marL="0" marR="0" indent="16002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8pPr>
    <a:lvl9pPr marL="0" marR="0" indent="18288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900"/>
    <a:srgbClr val="00B050"/>
    <a:srgbClr val="FD725F"/>
    <a:srgbClr val="000000"/>
    <a:srgbClr val="FFFFFF"/>
    <a:srgbClr val="F3F599"/>
    <a:srgbClr val="FD7967"/>
    <a:srgbClr val="AFEAFF"/>
    <a:srgbClr val="7DDDFF"/>
    <a:srgbClr val="FFD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6379" autoAdjust="0"/>
  </p:normalViewPr>
  <p:slideViewPr>
    <p:cSldViewPr>
      <p:cViewPr varScale="1">
        <p:scale>
          <a:sx n="54" d="100"/>
          <a:sy n="54" d="100"/>
        </p:scale>
        <p:origin x="174" y="15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2400" dirty="0" err="1">
                <a:solidFill>
                  <a:srgbClr val="000000"/>
                </a:solidFill>
              </a:rPr>
              <a:t>HiAI</a:t>
            </a:r>
            <a:endParaRPr lang="en-US" altLang="zh-CN" sz="2400" dirty="0">
              <a:solidFill>
                <a:srgbClr val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进程名</c:v>
                </c:pt>
              </c:strCache>
            </c:strRef>
          </c:tx>
          <c:spPr>
            <a:solidFill>
              <a:schemeClr val="accent1"/>
            </a:solidFill>
            <a:ln w="0">
              <a:solidFill>
                <a:srgbClr val="000000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1E-48C6-B750-1325A84460D2}"/>
              </c:ext>
            </c:extLst>
          </c:dPt>
          <c:dPt>
            <c:idx val="1"/>
            <c:invertIfNegative val="0"/>
            <c:bubble3D val="0"/>
            <c:spPr>
              <a:solidFill>
                <a:srgbClr val="92D050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1E-48C6-B750-1325A84460D2}"/>
              </c:ext>
            </c:extLst>
          </c:dPt>
          <c:dPt>
            <c:idx val="2"/>
            <c:invertIfNegative val="0"/>
            <c:bubble3D val="0"/>
            <c:spPr>
              <a:solidFill>
                <a:srgbClr val="FD624D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71E-48C6-B750-1325A84460D2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71E-48C6-B750-1325A84460D2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71E-48C6-B750-1325A84460D2}"/>
              </c:ext>
            </c:extLst>
          </c:dPt>
          <c:cat>
            <c:strRef>
              <c:f>Sheet1!$A$2:$A$6</c:f>
              <c:strCache>
                <c:ptCount val="5"/>
                <c:pt idx="0">
                  <c:v>APP 1</c:v>
                </c:pt>
                <c:pt idx="1">
                  <c:v>APP 2</c:v>
                </c:pt>
                <c:pt idx="2">
                  <c:v>Service</c:v>
                </c:pt>
                <c:pt idx="3">
                  <c:v>APP 3</c:v>
                </c:pt>
                <c:pt idx="4">
                  <c:v>APP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500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71E-48C6-B750-1325A84460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18732671"/>
        <c:axId val="2118723519"/>
      </c:barChart>
      <c:catAx>
        <c:axId val="2118732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18723519"/>
        <c:crosses val="autoZero"/>
        <c:auto val="1"/>
        <c:lblAlgn val="ctr"/>
        <c:lblOffset val="100"/>
        <c:noMultiLvlLbl val="0"/>
      </c:catAx>
      <c:valAx>
        <c:axId val="2118723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187326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2400" dirty="0" err="1">
                <a:solidFill>
                  <a:srgbClr val="000000"/>
                </a:solidFill>
              </a:rPr>
              <a:t>MLKit</a:t>
            </a:r>
            <a:endParaRPr lang="en-US" altLang="zh-CN" sz="2400" dirty="0">
              <a:solidFill>
                <a:srgbClr val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进程名</c:v>
                </c:pt>
              </c:strCache>
            </c:strRef>
          </c:tx>
          <c:spPr>
            <a:solidFill>
              <a:schemeClr val="accent1"/>
            </a:solidFill>
            <a:ln w="0">
              <a:solidFill>
                <a:srgbClr val="000000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BC-4819-A13D-634C404742B8}"/>
              </c:ext>
            </c:extLst>
          </c:dPt>
          <c:dPt>
            <c:idx val="1"/>
            <c:invertIfNegative val="0"/>
            <c:bubble3D val="0"/>
            <c:spPr>
              <a:solidFill>
                <a:srgbClr val="92D050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BC-4819-A13D-634C404742B8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BC-4819-A13D-634C404742B8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EBC-4819-A13D-634C404742B8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EBC-4819-A13D-634C404742B8}"/>
              </c:ext>
            </c:extLst>
          </c:dPt>
          <c:cat>
            <c:strRef>
              <c:f>Sheet1!$A$2:$A$6</c:f>
              <c:strCache>
                <c:ptCount val="5"/>
                <c:pt idx="0">
                  <c:v>APP 1</c:v>
                </c:pt>
                <c:pt idx="1">
                  <c:v>APP 2</c:v>
                </c:pt>
                <c:pt idx="2">
                  <c:v>APP 5</c:v>
                </c:pt>
                <c:pt idx="3">
                  <c:v>APP 3</c:v>
                </c:pt>
                <c:pt idx="4">
                  <c:v>APP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250</c:v>
                </c:pt>
                <c:pt idx="2">
                  <c:v>240</c:v>
                </c:pt>
                <c:pt idx="3">
                  <c:v>260</c:v>
                </c:pt>
                <c:pt idx="4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EBC-4819-A13D-634C404742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18732671"/>
        <c:axId val="2118723519"/>
      </c:barChart>
      <c:catAx>
        <c:axId val="2118732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18723519"/>
        <c:crosses val="autoZero"/>
        <c:auto val="1"/>
        <c:lblAlgn val="ctr"/>
        <c:lblOffset val="100"/>
        <c:noMultiLvlLbl val="0"/>
      </c:catAx>
      <c:valAx>
        <c:axId val="2118723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187326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2400" dirty="0" err="1">
                <a:solidFill>
                  <a:srgbClr val="000000"/>
                </a:solidFill>
              </a:rPr>
              <a:t>Taiyi</a:t>
            </a:r>
            <a:endParaRPr lang="en-US" altLang="zh-CN" sz="2400" dirty="0">
              <a:solidFill>
                <a:srgbClr val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进程名</c:v>
                </c:pt>
              </c:strCache>
            </c:strRef>
          </c:tx>
          <c:spPr>
            <a:solidFill>
              <a:schemeClr val="accent1"/>
            </a:solidFill>
            <a:ln w="0">
              <a:solidFill>
                <a:srgbClr val="000000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955-4203-8651-7502DE6BCA34}"/>
              </c:ext>
            </c:extLst>
          </c:dPt>
          <c:dPt>
            <c:idx val="1"/>
            <c:invertIfNegative val="0"/>
            <c:bubble3D val="0"/>
            <c:spPr>
              <a:solidFill>
                <a:srgbClr val="92D050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955-4203-8651-7502DE6BCA34}"/>
              </c:ext>
            </c:extLst>
          </c:dPt>
          <c:dPt>
            <c:idx val="2"/>
            <c:invertIfNegative val="0"/>
            <c:bubble3D val="0"/>
            <c:spPr>
              <a:solidFill>
                <a:srgbClr val="FD624D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955-4203-8651-7502DE6BCA34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955-4203-8651-7502DE6BCA34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955-4203-8651-7502DE6BCA34}"/>
              </c:ext>
            </c:extLst>
          </c:dPt>
          <c:cat>
            <c:strRef>
              <c:f>Sheet1!$A$2:$A$6</c:f>
              <c:strCache>
                <c:ptCount val="5"/>
                <c:pt idx="0">
                  <c:v>APP 1</c:v>
                </c:pt>
                <c:pt idx="1">
                  <c:v>APP 2</c:v>
                </c:pt>
                <c:pt idx="2">
                  <c:v>Service</c:v>
                </c:pt>
                <c:pt idx="3">
                  <c:v>APP 3</c:v>
                </c:pt>
                <c:pt idx="4">
                  <c:v>APP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120</c:v>
                </c:pt>
                <c:pt idx="2">
                  <c:v>300</c:v>
                </c:pt>
                <c:pt idx="3">
                  <c:v>90</c:v>
                </c:pt>
                <c:pt idx="4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955-4203-8651-7502DE6BCA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18732671"/>
        <c:axId val="2118723519"/>
      </c:barChart>
      <c:catAx>
        <c:axId val="2118732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18723519"/>
        <c:crosses val="autoZero"/>
        <c:auto val="1"/>
        <c:lblAlgn val="ctr"/>
        <c:lblOffset val="100"/>
        <c:noMultiLvlLbl val="0"/>
      </c:catAx>
      <c:valAx>
        <c:axId val="2118723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187326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2" name="Shape 7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8" b="32058"/>
          <a:stretch>
            <a:fillRect/>
          </a:stretch>
        </p:blipFill>
        <p:spPr>
          <a:xfrm>
            <a:off x="0" y="0"/>
            <a:ext cx="9311680" cy="13716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3519525" y="1355613"/>
            <a:ext cx="4442243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6600" b="0" cap="none" spc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★时尚中黑" panose="01010104010101010101" pitchFamily="2" charset="-122"/>
                <a:ea typeface="★时尚中黑" panose="01010104010101010101" pitchFamily="2" charset="-122"/>
              </a:rPr>
              <a:t>目录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384071" y="3722010"/>
            <a:ext cx="471315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800" b="0" cap="none" spc="0" dirty="0">
                <a:ln w="0"/>
                <a:solidFill>
                  <a:srgbClr val="FF69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0000" endA="300" endPos="50000" dist="60007" dir="5400000" sy="-100000" algn="bl" rotWithShape="0"/>
                </a:effectLst>
                <a:latin typeface="★时尚中黑" panose="01010104010101010101" pitchFamily="2" charset="-122"/>
                <a:ea typeface="★时尚中黑" panose="01010104010101010101" pitchFamily="2" charset="-122"/>
              </a:rPr>
              <a:t>contents</a:t>
            </a:r>
            <a:endParaRPr lang="zh-CN" altLang="en-US" sz="8800" b="0" cap="none" spc="0" dirty="0">
              <a:ln w="0"/>
              <a:solidFill>
                <a:srgbClr val="FF69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blurRad="6350" stA="50000" endA="300" endPos="50000" dist="60007" dir="5400000" sy="-100000" algn="bl" rotWithShape="0"/>
              </a:effectLst>
              <a:latin typeface="★时尚中黑" panose="01010104010101010101" pitchFamily="2" charset="-122"/>
              <a:ea typeface="★时尚中黑" panose="01010104010101010101" pitchFamily="2" charset="-122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5088" y="-342800"/>
            <a:ext cx="2669457" cy="2669457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15A86-3C48-4DB2-AA07-B191D65CC275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3C0E-8D64-4AFB-B06B-280A039BB4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5088" y="-342800"/>
            <a:ext cx="2669457" cy="26694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transition spd="med"/>
  <p:txStyles>
    <p:title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1pPr>
      <a:lvl2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2pPr>
      <a:lvl3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3pPr>
      <a:lvl4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4pPr>
      <a:lvl5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5pPr>
      <a:lvl6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6pPr>
      <a:lvl7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7pPr>
      <a:lvl8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8pPr>
      <a:lvl9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181358" y="8651269"/>
            <a:ext cx="2021284" cy="894080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rial" panose="020B0604020202020204" pitchFamily="34" charset="0"/>
                <a:ea typeface="MiSans W" panose="00000500000000000000" pitchFamily="50" charset="-122"/>
                <a:cs typeface="Arial" panose="020B0604020202020204" pitchFamily="34" charset="0"/>
              </a:rPr>
              <a:t>2025.9</a:t>
            </a:r>
            <a:endParaRPr lang="zh-CN" altLang="en-US" sz="4000" dirty="0">
              <a:latin typeface="Arial" panose="020B0604020202020204" pitchFamily="34" charset="0"/>
              <a:ea typeface="MiSans W" panose="00000500000000000000" pitchFamily="50" charset="-122"/>
              <a:cs typeface="Arial" panose="020B0604020202020204" pitchFamily="34" charset="0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6323348" y="5489848"/>
            <a:ext cx="11737304" cy="1015043"/>
          </a:xfrm>
        </p:spPr>
        <p:txBody>
          <a:bodyPr anchor="b">
            <a:noAutofit/>
          </a:bodyPr>
          <a:lstStyle>
            <a:lvl1pPr marL="0" marR="0" indent="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marR="0" indent="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fontAlgn="ctr"/>
            <a:r>
              <a:rPr lang="en-US" altLang="zh-CN" sz="72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AI </a:t>
            </a:r>
            <a:r>
              <a:rPr lang="zh-CN" altLang="en-US" sz="72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能力中心基础</a:t>
            </a:r>
          </a:p>
        </p:txBody>
      </p:sp>
      <p:sp>
        <p:nvSpPr>
          <p:cNvPr id="5" name="副标题 2"/>
          <p:cNvSpPr txBox="1"/>
          <p:nvPr/>
        </p:nvSpPr>
        <p:spPr>
          <a:xfrm>
            <a:off x="7620000" y="7362056"/>
            <a:ext cx="9144000" cy="894080"/>
          </a:xfrm>
        </p:spPr>
        <p:txBody>
          <a:bodyPr>
            <a:spAutoFit/>
          </a:bodyPr>
          <a:lstStyle>
            <a:lvl1pPr marL="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48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9144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4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8288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27432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36576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45720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54864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64008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73152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hangingPunct="1"/>
            <a:r>
              <a:rPr lang="en-US" altLang="zh-CN" sz="4000" dirty="0">
                <a:solidFill>
                  <a:srgbClr val="000000"/>
                </a:solidFill>
                <a:latin typeface="+mn-ea"/>
                <a:ea typeface="+mn-ea"/>
              </a:rPr>
              <a:t>AI </a:t>
            </a:r>
            <a:r>
              <a:rPr lang="zh-CN" altLang="en-US" sz="4000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技术</a:t>
            </a:r>
            <a:r>
              <a:rPr lang="zh-CN" altLang="en-US" sz="4000" dirty="0">
                <a:solidFill>
                  <a:srgbClr val="000000"/>
                </a:solidFill>
                <a:latin typeface="+mn-ea"/>
                <a:ea typeface="+mn-ea"/>
              </a:rPr>
              <a:t>部</a:t>
            </a:r>
            <a:r>
              <a:rPr lang="en-US" altLang="zh-CN" sz="4000" dirty="0">
                <a:solidFill>
                  <a:srgbClr val="000000"/>
                </a:solidFill>
                <a:latin typeface="+mn-ea"/>
                <a:ea typeface="+mn-ea"/>
              </a:rPr>
              <a:t>	</a:t>
            </a:r>
            <a:r>
              <a:rPr lang="zh-CN" altLang="en-US" sz="4000" dirty="0">
                <a:solidFill>
                  <a:srgbClr val="000000"/>
                </a:solidFill>
                <a:latin typeface="+mn-ea"/>
                <a:ea typeface="+mn-ea"/>
              </a:rPr>
              <a:t>常前前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产品定位">
            <a:extLst>
              <a:ext uri="{FF2B5EF4-FFF2-40B4-BE49-F238E27FC236}">
                <a16:creationId xmlns:a16="http://schemas.microsoft.com/office/drawing/2014/main" id="{54231A1B-9BB8-4831-BEE7-AB010FA20A05}"/>
              </a:ext>
            </a:extLst>
          </p:cNvPr>
          <p:cNvSpPr txBox="1"/>
          <p:nvPr/>
        </p:nvSpPr>
        <p:spPr>
          <a:xfrm>
            <a:off x="778732" y="332961"/>
            <a:ext cx="8244916" cy="15188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0311" tIns="90311" rIns="90311" bIns="90311" numCol="1" anchor="ctr">
            <a:noAutofit/>
          </a:bodyPr>
          <a:lstStyle>
            <a:lvl1pPr defTabSz="1467485">
              <a:defRPr sz="6400" b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zh-CN" alt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关于我</a:t>
            </a:r>
            <a:endParaRPr sz="6000" b="1" dirty="0">
              <a:solidFill>
                <a:srgbClr val="000000"/>
              </a:solidFill>
              <a:latin typeface="MiSans W" panose="00000500000000000000" pitchFamily="50" charset="-122"/>
              <a:ea typeface="MiSans W" panose="00000500000000000000" pitchFamily="5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791F7F-B3A7-4F8F-B084-D3391B6B6BEC}"/>
              </a:ext>
            </a:extLst>
          </p:cNvPr>
          <p:cNvSpPr txBox="1"/>
          <p:nvPr/>
        </p:nvSpPr>
        <p:spPr>
          <a:xfrm>
            <a:off x="1030760" y="3394066"/>
            <a:ext cx="18002000" cy="73462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000000"/>
                </a:solidFill>
              </a:rPr>
              <a:t>小米 </a:t>
            </a:r>
            <a:r>
              <a:rPr lang="en-US" altLang="zh-CN" sz="4000" b="1" dirty="0">
                <a:solidFill>
                  <a:srgbClr val="000000"/>
                </a:solidFill>
              </a:rPr>
              <a:t>AI </a:t>
            </a:r>
            <a:r>
              <a:rPr lang="zh-CN" altLang="en-US" sz="4000" b="1" dirty="0">
                <a:solidFill>
                  <a:srgbClr val="000000"/>
                </a:solidFill>
              </a:rPr>
              <a:t>能力中心项目负责人</a:t>
            </a:r>
            <a:endParaRPr lang="en-US" altLang="zh-CN" sz="4000" b="1" dirty="0">
              <a:solidFill>
                <a:srgbClr val="000000"/>
              </a:solidFill>
            </a:endParaRPr>
          </a:p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000000"/>
                </a:solidFill>
              </a:rPr>
              <a:t>我也是个萌新</a:t>
            </a:r>
            <a:endParaRPr lang="en-US" altLang="zh-CN" sz="4000" b="1" dirty="0">
              <a:solidFill>
                <a:srgbClr val="000000"/>
              </a:solidFill>
            </a:endParaRPr>
          </a:p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4000" b="1" dirty="0">
              <a:solidFill>
                <a:schemeClr val="bg1"/>
              </a:solidFill>
            </a:endParaRPr>
          </a:p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某公司端侧 </a:t>
            </a:r>
            <a:r>
              <a:rPr lang="en-US" altLang="zh-CN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AI </a:t>
            </a:r>
            <a:r>
              <a:rPr lang="zh-CN" altLang="en-US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平台项目负责人，从 </a:t>
            </a:r>
            <a:r>
              <a:rPr lang="en-US" altLang="zh-CN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 </a:t>
            </a:r>
            <a:r>
              <a:rPr lang="zh-CN" altLang="en-US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到 </a:t>
            </a:r>
            <a:r>
              <a:rPr lang="en-US" altLang="zh-CN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 </a:t>
            </a:r>
            <a:r>
              <a:rPr lang="zh-CN" altLang="en-US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设计与实现</a:t>
            </a:r>
            <a:endParaRPr lang="en-US" altLang="zh-CN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曾在某官方视频号做过两次技术直播、</a:t>
            </a:r>
            <a:r>
              <a:rPr lang="en-US" altLang="zh-CN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CDSN </a:t>
            </a:r>
            <a:r>
              <a:rPr lang="zh-CN" altLang="en-US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做过一次技术直播，累计超过 </a:t>
            </a:r>
            <a:r>
              <a:rPr lang="en-US" altLang="zh-CN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1w </a:t>
            </a:r>
            <a:r>
              <a:rPr lang="zh-CN" altLang="en-US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观看量</a:t>
            </a:r>
            <a:endParaRPr lang="en-US" altLang="zh-CN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曾在高中毕业赚人生第一桶金 </a:t>
            </a:r>
            <a:r>
              <a:rPr lang="en-US" altLang="zh-CN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3w+</a:t>
            </a:r>
          </a:p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i="0" u="none" strike="noStrike" cap="none" spc="0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曾在大学毕业累计赚 </a:t>
            </a:r>
            <a:r>
              <a:rPr kumimoji="0" lang="en-US" altLang="zh-CN" sz="3200" i="0" u="none" strike="noStrike" cap="none" spc="0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5w+</a:t>
            </a:r>
          </a:p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不要在微信上搜我的名字</a:t>
            </a:r>
            <a:endParaRPr kumimoji="0" lang="en-US" altLang="zh-CN" sz="3200" i="0" u="none" strike="noStrike" cap="none" spc="0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……</a:t>
            </a:r>
            <a:endParaRPr kumimoji="0" lang="en-US" altLang="zh-CN" sz="3200" i="0" u="none" strike="noStrike" cap="none" spc="0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25934618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产品定位">
            <a:extLst>
              <a:ext uri="{FF2B5EF4-FFF2-40B4-BE49-F238E27FC236}">
                <a16:creationId xmlns:a16="http://schemas.microsoft.com/office/drawing/2014/main" id="{54231A1B-9BB8-4831-BEE7-AB010FA20A05}"/>
              </a:ext>
            </a:extLst>
          </p:cNvPr>
          <p:cNvSpPr txBox="1"/>
          <p:nvPr/>
        </p:nvSpPr>
        <p:spPr>
          <a:xfrm>
            <a:off x="778732" y="332961"/>
            <a:ext cx="8244916" cy="15188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0311" tIns="90311" rIns="90311" bIns="90311" numCol="1" anchor="ctr">
            <a:noAutofit/>
          </a:bodyPr>
          <a:lstStyle>
            <a:lvl1pPr defTabSz="1467485">
              <a:defRPr sz="6400" b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zh-CN" alt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当前工作</a:t>
            </a:r>
            <a:endParaRPr sz="6000" b="1" dirty="0">
              <a:solidFill>
                <a:srgbClr val="000000"/>
              </a:solidFill>
              <a:latin typeface="MiSans W" panose="00000500000000000000" pitchFamily="50" charset="-122"/>
              <a:ea typeface="MiSans W" panose="00000500000000000000" pitchFamily="50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26E9DA-D77B-49F2-B5E9-1DE63D759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3728" y="3071998"/>
            <a:ext cx="13394073" cy="872413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E2A4429-DCED-4F42-B633-A796B2B405E2}"/>
              </a:ext>
            </a:extLst>
          </p:cNvPr>
          <p:cNvSpPr txBox="1"/>
          <p:nvPr/>
        </p:nvSpPr>
        <p:spPr>
          <a:xfrm>
            <a:off x="973323" y="4776606"/>
            <a:ext cx="8770405" cy="531491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Dev Tool</a:t>
            </a:r>
            <a:r>
              <a:rPr lang="zh-CN" altLang="en-US" sz="3200" dirty="0">
                <a:solidFill>
                  <a:srgbClr val="000000"/>
                </a:solidFill>
              </a:rPr>
              <a:t>：插件开发部署工具</a:t>
            </a:r>
            <a:endParaRPr lang="en-US" altLang="zh-CN" sz="32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SDK</a:t>
            </a:r>
            <a:r>
              <a:rPr lang="zh-CN" altLang="en-US" sz="3200" dirty="0">
                <a:solidFill>
                  <a:srgbClr val="000000"/>
                </a:solidFill>
              </a:rPr>
              <a:t>：接口协议</a:t>
            </a:r>
            <a:endParaRPr lang="en-US" altLang="zh-CN" sz="32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Service</a:t>
            </a: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+mn-ea"/>
                <a:cs typeface="+mn-cs"/>
                <a:sym typeface="Gill Sans Light"/>
              </a:rPr>
              <a:t>：</a:t>
            </a:r>
            <a:r>
              <a:rPr kumimoji="0" lang="en-US" altLang="zh-CN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+mn-ea"/>
                <a:cs typeface="+mn-cs"/>
                <a:sym typeface="Gill Sans Light"/>
              </a:rPr>
              <a:t>AI </a:t>
            </a:r>
            <a:r>
              <a:rPr lang="zh-CN" altLang="en-US" sz="3200" dirty="0">
                <a:solidFill>
                  <a:srgbClr val="000000"/>
                </a:solidFill>
              </a:rPr>
              <a:t>子系统</a:t>
            </a: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+mn-ea"/>
                <a:cs typeface="+mn-cs"/>
                <a:sym typeface="Gill Sans Light"/>
              </a:rPr>
              <a:t>服务</a:t>
            </a:r>
            <a:endParaRPr kumimoji="0" lang="en-US" altLang="zh-CN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ea typeface="+mn-ea"/>
              <a:cs typeface="+mn-cs"/>
              <a:sym typeface="Gill Sans Light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Runtime Core</a:t>
            </a:r>
            <a:r>
              <a:rPr lang="zh-CN" altLang="en-US" sz="3200" dirty="0">
                <a:solidFill>
                  <a:srgbClr val="000000"/>
                </a:solidFill>
              </a:rPr>
              <a:t>：运行时核心</a:t>
            </a:r>
            <a:endParaRPr lang="en-US" altLang="zh-CN" sz="32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zh-CN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+mn-ea"/>
                <a:cs typeface="+mn-cs"/>
                <a:sym typeface="Gill Sans Light"/>
              </a:rPr>
              <a:t>Nova</a:t>
            </a: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+mn-ea"/>
                <a:cs typeface="+mn-cs"/>
                <a:sym typeface="Gill Sans Light"/>
              </a:rPr>
              <a:t>：基于 </a:t>
            </a:r>
            <a:r>
              <a:rPr kumimoji="0" lang="en-US" altLang="zh-CN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+mn-ea"/>
                <a:cs typeface="+mn-cs"/>
                <a:sym typeface="Gill Sans Light"/>
              </a:rPr>
              <a:t>MAGE </a:t>
            </a: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+mn-ea"/>
                <a:cs typeface="+mn-cs"/>
                <a:sym typeface="Gill Sans Light"/>
              </a:rPr>
              <a:t>的端侧推理框架</a:t>
            </a:r>
            <a:endParaRPr kumimoji="0" lang="en-US" altLang="zh-CN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ea typeface="+mn-ea"/>
              <a:cs typeface="+mn-cs"/>
              <a:sym typeface="Gill Sans Light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zh-CN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+mn-ea"/>
                <a:cs typeface="+mn-cs"/>
                <a:sym typeface="Gill Sans Light"/>
              </a:rPr>
              <a:t>Transparent Sandbox </a:t>
            </a: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+mn-ea"/>
                <a:cs typeface="+mn-cs"/>
                <a:sym typeface="Gill Sans Light"/>
              </a:rPr>
              <a:t>：透明沙箱存储</a:t>
            </a:r>
            <a:endParaRPr kumimoji="0" lang="en-US" altLang="zh-CN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ea typeface="+mn-ea"/>
              <a:cs typeface="+mn-cs"/>
              <a:sym typeface="Gill Sans Light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Cloud Platform</a:t>
            </a:r>
            <a:r>
              <a:rPr lang="zh-CN" altLang="en-US" sz="3200" dirty="0">
                <a:solidFill>
                  <a:srgbClr val="000000"/>
                </a:solidFill>
              </a:rPr>
              <a:t>：一站式端云部署平台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ea typeface="+mn-ea"/>
              <a:cs typeface="+mn-cs"/>
              <a:sym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7783064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产品定位">
            <a:extLst>
              <a:ext uri="{FF2B5EF4-FFF2-40B4-BE49-F238E27FC236}">
                <a16:creationId xmlns:a16="http://schemas.microsoft.com/office/drawing/2014/main" id="{54231A1B-9BB8-4831-BEE7-AB010FA20A05}"/>
              </a:ext>
            </a:extLst>
          </p:cNvPr>
          <p:cNvSpPr txBox="1"/>
          <p:nvPr/>
        </p:nvSpPr>
        <p:spPr>
          <a:xfrm>
            <a:off x="778732" y="332961"/>
            <a:ext cx="8244916" cy="15188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0311" tIns="90311" rIns="90311" bIns="90311" numCol="1" anchor="ctr">
            <a:noAutofit/>
          </a:bodyPr>
          <a:lstStyle>
            <a:lvl1pPr defTabSz="1467485">
              <a:defRPr sz="6400" b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zh-CN" alt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项目目标</a:t>
            </a:r>
            <a:endParaRPr sz="6000" b="1" dirty="0">
              <a:solidFill>
                <a:srgbClr val="000000"/>
              </a:solidFill>
              <a:latin typeface="MiSans W" panose="00000500000000000000" pitchFamily="50" charset="-122"/>
              <a:ea typeface="MiSans W" panose="00000500000000000000" pitchFamily="50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4425990-80CA-4E9A-88E0-8AEA37775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160" y="4553512"/>
            <a:ext cx="22337680" cy="46089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57647CA-5014-4E64-9291-4AC15D063B19}"/>
              </a:ext>
            </a:extLst>
          </p:cNvPr>
          <p:cNvSpPr txBox="1"/>
          <p:nvPr/>
        </p:nvSpPr>
        <p:spPr>
          <a:xfrm>
            <a:off x="1023160" y="2471411"/>
            <a:ext cx="22337680" cy="139076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000000"/>
                </a:solidFill>
              </a:rPr>
              <a:t>让 </a:t>
            </a:r>
            <a:r>
              <a:rPr lang="zh-CN" altLang="en-US" sz="5400" b="1" dirty="0">
                <a:solidFill>
                  <a:srgbClr val="FD725F"/>
                </a:solidFill>
              </a:rPr>
              <a:t>算法 </a:t>
            </a:r>
            <a:r>
              <a:rPr lang="zh-CN" altLang="en-US" sz="4000" b="1" dirty="0">
                <a:solidFill>
                  <a:srgbClr val="000000"/>
                </a:solidFill>
              </a:rPr>
              <a:t>更好地赋能 </a:t>
            </a:r>
            <a:r>
              <a:rPr lang="zh-CN" altLang="en-US" sz="5400" b="1" dirty="0">
                <a:solidFill>
                  <a:srgbClr val="00B050"/>
                </a:solidFill>
              </a:rPr>
              <a:t>业务</a:t>
            </a:r>
            <a:endParaRPr lang="en-US" altLang="zh-CN" sz="5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60021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产品定位">
            <a:extLst>
              <a:ext uri="{FF2B5EF4-FFF2-40B4-BE49-F238E27FC236}">
                <a16:creationId xmlns:a16="http://schemas.microsoft.com/office/drawing/2014/main" id="{54231A1B-9BB8-4831-BEE7-AB010FA20A05}"/>
              </a:ext>
            </a:extLst>
          </p:cNvPr>
          <p:cNvSpPr txBox="1"/>
          <p:nvPr/>
        </p:nvSpPr>
        <p:spPr>
          <a:xfrm>
            <a:off x="778732" y="332961"/>
            <a:ext cx="8244916" cy="15188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0311" tIns="90311" rIns="90311" bIns="90311" numCol="1" anchor="ctr">
            <a:noAutofit/>
          </a:bodyPr>
          <a:lstStyle>
            <a:lvl1pPr defTabSz="1467485">
              <a:defRPr sz="6400" b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zh-CN" alt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行业现状</a:t>
            </a:r>
            <a:endParaRPr sz="6000" b="1" dirty="0">
              <a:solidFill>
                <a:srgbClr val="000000"/>
              </a:solidFill>
              <a:latin typeface="MiSans W" panose="00000500000000000000" pitchFamily="50" charset="-122"/>
              <a:ea typeface="MiSans W" panose="00000500000000000000" pitchFamily="50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A0595E2-91A8-42D2-9B1B-BCF0D1E46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856" y="2320497"/>
            <a:ext cx="9631902" cy="541794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D9DC768-605C-42D5-8FF5-83F72EADB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5531" y="2320497"/>
            <a:ext cx="9631902" cy="541794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367EBED-8C9A-4B88-AC60-A4A0BB54C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4856" y="7866112"/>
            <a:ext cx="9631902" cy="54179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6A49601-90A8-4DA9-9818-F6BF72ECD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5531" y="7866112"/>
            <a:ext cx="9631902" cy="541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01296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产品定位">
            <a:extLst>
              <a:ext uri="{FF2B5EF4-FFF2-40B4-BE49-F238E27FC236}">
                <a16:creationId xmlns:a16="http://schemas.microsoft.com/office/drawing/2014/main" id="{54231A1B-9BB8-4831-BEE7-AB010FA20A05}"/>
              </a:ext>
            </a:extLst>
          </p:cNvPr>
          <p:cNvSpPr txBox="1"/>
          <p:nvPr/>
        </p:nvSpPr>
        <p:spPr>
          <a:xfrm>
            <a:off x="778732" y="332961"/>
            <a:ext cx="8244916" cy="15188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0311" tIns="90311" rIns="90311" bIns="90311" numCol="1" anchor="ctr">
            <a:noAutofit/>
          </a:bodyPr>
          <a:lstStyle>
            <a:lvl1pPr defTabSz="1467485">
              <a:defRPr sz="6400" b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zh-CN" alt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架构演进</a:t>
            </a:r>
            <a:endParaRPr sz="6000" b="1" dirty="0">
              <a:solidFill>
                <a:srgbClr val="000000"/>
              </a:solidFill>
              <a:latin typeface="MiSans W" panose="00000500000000000000" pitchFamily="50" charset="-122"/>
              <a:ea typeface="MiSans W" panose="00000500000000000000" pitchFamily="5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C73765-F1B7-435F-AE88-77E7ADAB2BB8}"/>
              </a:ext>
            </a:extLst>
          </p:cNvPr>
          <p:cNvSpPr/>
          <p:nvPr/>
        </p:nvSpPr>
        <p:spPr>
          <a:xfrm>
            <a:off x="2506923" y="2897884"/>
            <a:ext cx="3816424" cy="698267"/>
          </a:xfrm>
          <a:prstGeom prst="rect">
            <a:avLst/>
          </a:prstGeom>
          <a:solidFill>
            <a:srgbClr val="808785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Sans W" panose="00000500000000000000" pitchFamily="50" charset="-122"/>
                <a:ea typeface="MiSans W" panose="00000500000000000000" pitchFamily="50" charset="-122"/>
                <a:sym typeface="Gill Sans Light"/>
              </a:rPr>
              <a:t>第一代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78DD27-F35B-42FF-872B-2746A45736C2}"/>
              </a:ext>
            </a:extLst>
          </p:cNvPr>
          <p:cNvSpPr/>
          <p:nvPr/>
        </p:nvSpPr>
        <p:spPr>
          <a:xfrm>
            <a:off x="9149661" y="2908466"/>
            <a:ext cx="3816424" cy="69826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Sans W" panose="00000500000000000000" pitchFamily="50" charset="-122"/>
                <a:ea typeface="MiSans W" panose="00000500000000000000" pitchFamily="50" charset="-122"/>
                <a:sym typeface="Gill Sans Light"/>
              </a:rPr>
              <a:t>第二代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65FC98-E8DE-4B6A-80C5-2C5064C5896B}"/>
              </a:ext>
            </a:extLst>
          </p:cNvPr>
          <p:cNvSpPr/>
          <p:nvPr/>
        </p:nvSpPr>
        <p:spPr>
          <a:xfrm>
            <a:off x="15792400" y="2908466"/>
            <a:ext cx="3816424" cy="698267"/>
          </a:xfrm>
          <a:prstGeom prst="rect">
            <a:avLst/>
          </a:prstGeom>
          <a:solidFill>
            <a:srgbClr val="FF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Sans W" panose="00000500000000000000" pitchFamily="50" charset="-122"/>
                <a:ea typeface="MiSans W" panose="00000500000000000000" pitchFamily="50" charset="-122"/>
                <a:sym typeface="Gill Sans Light"/>
              </a:rPr>
              <a:t>第三代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786684-2FE4-4E3B-9C54-38E390972B10}"/>
              </a:ext>
            </a:extLst>
          </p:cNvPr>
          <p:cNvSpPr txBox="1"/>
          <p:nvPr/>
        </p:nvSpPr>
        <p:spPr>
          <a:xfrm>
            <a:off x="2506922" y="3833664"/>
            <a:ext cx="5616624" cy="68407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t">
            <a:noAutofit/>
          </a:bodyPr>
          <a:lstStyle/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代表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：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HIAI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、</a:t>
            </a:r>
            <a:r>
              <a:rPr kumimoji="0" lang="en-US" altLang="zh-CN" sz="2400" b="0" i="0" u="none" strike="noStrike" cap="none" spc="0" normalizeH="0" baseline="0" dirty="0" err="1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AIUnit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、</a:t>
            </a:r>
            <a:r>
              <a:rPr kumimoji="0" lang="en-US" altLang="zh-CN" sz="2400" b="0" i="0" u="none" strike="noStrike" cap="none" spc="0" normalizeH="0" baseline="0" dirty="0" err="1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JoviKit</a:t>
            </a:r>
            <a:endParaRPr kumimoji="0" lang="en-US" altLang="zh-CN" sz="2400" b="0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dirty="0"/>
              <a:t>类型</a:t>
            </a:r>
            <a:r>
              <a:rPr lang="zh-CN" altLang="en-US" sz="2400" dirty="0"/>
              <a:t>：</a:t>
            </a:r>
            <a:r>
              <a:rPr lang="zh-CN" altLang="en-US" sz="2400" b="1" dirty="0">
                <a:solidFill>
                  <a:srgbClr val="000000"/>
                </a:solidFill>
              </a:rPr>
              <a:t>集中式运行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特点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：</a:t>
            </a:r>
            <a:endParaRPr kumimoji="0" lang="en-US" altLang="zh-CN" sz="2400" b="0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  <a:p>
            <a:pPr marL="457200" marR="0" indent="-45720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插件集中运行在系统单一进程，都需要跨进程访问，不适用于低功耗算法及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HAL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、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Framework 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业务；</a:t>
            </a:r>
            <a:endParaRPr kumimoji="0" lang="en-US" altLang="zh-CN" sz="2400" b="0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  <a:p>
            <a:pPr marL="457200" marR="0" indent="-45720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所有业务和算法端云更新成本、埋点监控成本由服务进程独自承担，不利于开放合作；</a:t>
            </a:r>
            <a:endParaRPr kumimoji="0" lang="en-US" altLang="zh-CN" sz="2400" b="0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  <a:p>
            <a:pPr marL="457200" marR="0" indent="-45720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服务进程与业务和算法易耦合，不利于平台化部署和维护流程的建立。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9311AFE-7D60-44D4-857F-6BE37DDBED21}"/>
              </a:ext>
            </a:extLst>
          </p:cNvPr>
          <p:cNvSpPr txBox="1"/>
          <p:nvPr/>
        </p:nvSpPr>
        <p:spPr>
          <a:xfrm>
            <a:off x="9149661" y="3833664"/>
            <a:ext cx="5616624" cy="68407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t">
            <a:noAutofit/>
          </a:bodyPr>
          <a:lstStyle/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代表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：</a:t>
            </a:r>
            <a:r>
              <a:rPr kumimoji="0" lang="en-US" altLang="zh-CN" sz="2400" b="0" i="0" u="none" strike="noStrike" cap="none" spc="0" normalizeH="0" baseline="0" dirty="0" err="1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MLKit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、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Pitaya</a:t>
            </a:r>
          </a:p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类型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：</a:t>
            </a:r>
            <a:r>
              <a:rPr kumimoji="0" lang="zh-CN" altLang="en-U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独立式运行</a:t>
            </a:r>
            <a:endParaRPr kumimoji="0" lang="en-US" altLang="zh-CN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dirty="0"/>
              <a:t>特点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dirty="0"/>
              <a:t>1.</a:t>
            </a:r>
            <a:r>
              <a:rPr lang="zh-CN" altLang="en-US" sz="2400" dirty="0"/>
              <a:t>算法、平台和业务完全解耦；</a:t>
            </a:r>
            <a:endParaRPr lang="en-US" altLang="zh-CN" sz="2400" dirty="0"/>
          </a:p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插件打包在业务</a:t>
            </a:r>
            <a:r>
              <a:rPr lang="en-US" altLang="zh-CN" sz="2400" dirty="0"/>
              <a:t> APP </a:t>
            </a:r>
            <a:r>
              <a:rPr lang="zh-CN" altLang="en-US" sz="2400" dirty="0"/>
              <a:t>中或保存在系统共享组件，运行时全部在业务 </a:t>
            </a:r>
            <a:r>
              <a:rPr lang="en-US" altLang="zh-CN" sz="2400" dirty="0"/>
              <a:t>APP </a:t>
            </a:r>
            <a:r>
              <a:rPr lang="zh-CN" altLang="en-US" sz="2400" dirty="0"/>
              <a:t>主进程，但模型资源冗余、运行时不复用导致系统资源紧张；</a:t>
            </a:r>
            <a:endParaRPr lang="en-US" altLang="zh-CN" sz="2400" dirty="0"/>
          </a:p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dirty="0"/>
              <a:t>3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. 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没有系统级的可调度性。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2F3EF35-30B4-4FE5-AE47-755C8CB73CC5}"/>
              </a:ext>
            </a:extLst>
          </p:cNvPr>
          <p:cNvSpPr txBox="1"/>
          <p:nvPr/>
        </p:nvSpPr>
        <p:spPr>
          <a:xfrm>
            <a:off x="15792400" y="3833664"/>
            <a:ext cx="5616624" cy="68407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t">
            <a:noAutofit/>
          </a:bodyPr>
          <a:lstStyle/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代表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：</a:t>
            </a:r>
            <a:r>
              <a:rPr lang="zh-CN" altLang="en-US" sz="2400" dirty="0">
                <a:solidFill>
                  <a:srgbClr val="FF6900"/>
                </a:solidFill>
              </a:rPr>
              <a:t>太一 </a:t>
            </a:r>
            <a:r>
              <a:rPr lang="en-US" altLang="zh-CN" sz="2400" dirty="0">
                <a:solidFill>
                  <a:srgbClr val="FF6900"/>
                </a:solidFill>
              </a:rPr>
              <a:t>AI </a:t>
            </a:r>
            <a:r>
              <a:rPr lang="zh-CN" altLang="en-US" sz="2400" dirty="0">
                <a:solidFill>
                  <a:srgbClr val="FF6900"/>
                </a:solidFill>
              </a:rPr>
              <a:t>平台</a:t>
            </a:r>
            <a:endParaRPr kumimoji="0" lang="en-US" altLang="zh-CN" sz="2400" b="0" i="0" u="none" strike="noStrike" cap="none" spc="0" normalizeH="0" baseline="0" dirty="0">
              <a:ln>
                <a:noFill/>
              </a:ln>
              <a:solidFill>
                <a:srgbClr val="FF6900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类型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：</a:t>
            </a:r>
            <a:r>
              <a:rPr kumimoji="0" lang="zh-CN" altLang="en-US" sz="2400" b="1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分布式运行</a:t>
            </a:r>
            <a:endParaRPr kumimoji="0" lang="en-US" altLang="zh-CN" sz="2400" b="1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dirty="0"/>
              <a:t>特点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457200" marR="0" indent="-45720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分布式进程，算法运行进程动态化调度，即进程资源可按照业务场景、模型特性等按需配额，可在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APP 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进程，可在服务进程；</a:t>
            </a:r>
            <a:endParaRPr kumimoji="0" lang="en-US" altLang="zh-CN" sz="2400" b="0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  <a:p>
            <a:pPr marL="457200" marR="0" indent="-45720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lang="zh-CN" altLang="en-US" sz="2400" dirty="0"/>
              <a:t>分布式设备，可在多终端互联场景下虚拟化 </a:t>
            </a:r>
            <a:r>
              <a:rPr lang="en-US" altLang="zh-CN" sz="2400" dirty="0"/>
              <a:t>AI </a:t>
            </a:r>
            <a:r>
              <a:rPr lang="zh-CN" altLang="en-US" sz="2400" dirty="0"/>
              <a:t>中台，实现跨设备能力和算力提供；</a:t>
            </a:r>
            <a:endParaRPr lang="en-US" altLang="zh-CN" sz="2400" dirty="0"/>
          </a:p>
          <a:p>
            <a:pPr marL="457200" marR="0" indent="-45720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35353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平台化部署，支持业务接入管理、算法部署管理和平台开发工具等。</a:t>
            </a:r>
            <a:endParaRPr kumimoji="0" lang="en-US" altLang="zh-CN" sz="2400" b="0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  <a:p>
            <a:pPr marL="457200" marR="0" indent="-45720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35702639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产品定位">
            <a:extLst>
              <a:ext uri="{FF2B5EF4-FFF2-40B4-BE49-F238E27FC236}">
                <a16:creationId xmlns:a16="http://schemas.microsoft.com/office/drawing/2014/main" id="{54231A1B-9BB8-4831-BEE7-AB010FA20A05}"/>
              </a:ext>
            </a:extLst>
          </p:cNvPr>
          <p:cNvSpPr txBox="1"/>
          <p:nvPr/>
        </p:nvSpPr>
        <p:spPr>
          <a:xfrm>
            <a:off x="778732" y="332961"/>
            <a:ext cx="8244916" cy="15188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0311" tIns="90311" rIns="90311" bIns="90311" numCol="1" anchor="ctr">
            <a:noAutofit/>
          </a:bodyPr>
          <a:lstStyle>
            <a:lvl1pPr defTabSz="1467485">
              <a:defRPr sz="6400" b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zh-CN" alt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对比示意</a:t>
            </a:r>
            <a:endParaRPr sz="6000" b="1" dirty="0">
              <a:solidFill>
                <a:srgbClr val="000000"/>
              </a:solidFill>
              <a:latin typeface="MiSans W" panose="00000500000000000000" pitchFamily="50" charset="-122"/>
              <a:ea typeface="MiSans W" panose="00000500000000000000" pitchFamily="50" charset="-122"/>
            </a:endParaRPr>
          </a:p>
        </p:txBody>
      </p:sp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14B37434-C480-4DBB-9877-F8F7A84690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4344435"/>
              </p:ext>
            </p:extLst>
          </p:nvPr>
        </p:nvGraphicFramePr>
        <p:xfrm>
          <a:off x="1453807" y="2503388"/>
          <a:ext cx="5922658" cy="5697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CE522986-DA10-4B36-8299-E5BA5C2602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2610768"/>
              </p:ext>
            </p:extLst>
          </p:nvPr>
        </p:nvGraphicFramePr>
        <p:xfrm>
          <a:off x="9230671" y="2503388"/>
          <a:ext cx="5922658" cy="5697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DFAA0DEE-CD72-4B63-8CC8-1998F92606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3784089"/>
              </p:ext>
            </p:extLst>
          </p:nvPr>
        </p:nvGraphicFramePr>
        <p:xfrm>
          <a:off x="17006845" y="2503388"/>
          <a:ext cx="5922658" cy="5697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A9924515-80D2-4A3A-8789-7D73361389C5}"/>
              </a:ext>
            </a:extLst>
          </p:cNvPr>
          <p:cNvSpPr txBox="1"/>
          <p:nvPr/>
        </p:nvSpPr>
        <p:spPr>
          <a:xfrm>
            <a:off x="2614936" y="11898562"/>
            <a:ext cx="3600400" cy="63671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 dirty="0">
                <a:latin typeface="MiSans W" panose="00000500000000000000" pitchFamily="50" charset="-122"/>
                <a:ea typeface="MiSans W" panose="00000500000000000000" pitchFamily="50" charset="-122"/>
              </a:rPr>
              <a:t>针型</a:t>
            </a: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MiSans W" panose="00000500000000000000" pitchFamily="50" charset="-122"/>
              <a:ea typeface="MiSans W" panose="00000500000000000000" pitchFamily="50" charset="-122"/>
              <a:sym typeface="Gill Sans Ligh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118CB0A-7843-4C7D-8E08-B0C2DA34D330}"/>
              </a:ext>
            </a:extLst>
          </p:cNvPr>
          <p:cNvSpPr txBox="1"/>
          <p:nvPr/>
        </p:nvSpPr>
        <p:spPr>
          <a:xfrm>
            <a:off x="10499787" y="11898561"/>
            <a:ext cx="3600400" cy="63671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 dirty="0">
                <a:latin typeface="MiSans W" panose="00000500000000000000" pitchFamily="50" charset="-122"/>
                <a:ea typeface="MiSans W" panose="00000500000000000000" pitchFamily="50" charset="-122"/>
              </a:rPr>
              <a:t>块型</a:t>
            </a: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MiSans W" panose="00000500000000000000" pitchFamily="50" charset="-122"/>
              <a:ea typeface="MiSans W" panose="00000500000000000000" pitchFamily="50" charset="-122"/>
              <a:sym typeface="Gill Sans Light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4F42B73-A83E-456A-8FE5-A7BBDEE4A14D}"/>
              </a:ext>
            </a:extLst>
          </p:cNvPr>
          <p:cNvSpPr txBox="1"/>
          <p:nvPr/>
        </p:nvSpPr>
        <p:spPr>
          <a:xfrm>
            <a:off x="18285144" y="11898561"/>
            <a:ext cx="3600400" cy="63671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 dirty="0">
                <a:latin typeface="MiSans W" panose="00000500000000000000" pitchFamily="50" charset="-122"/>
                <a:ea typeface="MiSans W" panose="00000500000000000000" pitchFamily="50" charset="-122"/>
              </a:rPr>
              <a:t>正态</a:t>
            </a: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MiSans W" panose="00000500000000000000" pitchFamily="50" charset="-122"/>
              <a:ea typeface="MiSans W" panose="00000500000000000000" pitchFamily="50" charset="-122"/>
              <a:sym typeface="Gill Sans Light"/>
            </a:endParaRPr>
          </a:p>
        </p:txBody>
      </p:sp>
      <p:sp>
        <p:nvSpPr>
          <p:cNvPr id="21" name="流程图: 接点 20">
            <a:extLst>
              <a:ext uri="{FF2B5EF4-FFF2-40B4-BE49-F238E27FC236}">
                <a16:creationId xmlns:a16="http://schemas.microsoft.com/office/drawing/2014/main" id="{746489A5-887E-4A43-8C23-62DECD6C6798}"/>
              </a:ext>
            </a:extLst>
          </p:cNvPr>
          <p:cNvSpPr/>
          <p:nvPr/>
        </p:nvSpPr>
        <p:spPr>
          <a:xfrm>
            <a:off x="18428136" y="8658200"/>
            <a:ext cx="986388" cy="986388"/>
          </a:xfrm>
          <a:prstGeom prst="flowChartConnector">
            <a:avLst/>
          </a:prstGeom>
          <a:solidFill>
            <a:srgbClr val="00B05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APP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</p:txBody>
      </p:sp>
      <p:sp>
        <p:nvSpPr>
          <p:cNvPr id="22" name="流程图: 接点 21">
            <a:extLst>
              <a:ext uri="{FF2B5EF4-FFF2-40B4-BE49-F238E27FC236}">
                <a16:creationId xmlns:a16="http://schemas.microsoft.com/office/drawing/2014/main" id="{6E620636-63FE-4714-A8C4-73447941BD79}"/>
              </a:ext>
            </a:extLst>
          </p:cNvPr>
          <p:cNvSpPr/>
          <p:nvPr/>
        </p:nvSpPr>
        <p:spPr>
          <a:xfrm>
            <a:off x="20782676" y="8658200"/>
            <a:ext cx="986388" cy="986388"/>
          </a:xfrm>
          <a:prstGeom prst="flowChartConnector">
            <a:avLst/>
          </a:prstGeom>
          <a:solidFill>
            <a:srgbClr val="00B05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APP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</p:txBody>
      </p:sp>
      <p:sp>
        <p:nvSpPr>
          <p:cNvPr id="23" name="流程图: 接点 22">
            <a:extLst>
              <a:ext uri="{FF2B5EF4-FFF2-40B4-BE49-F238E27FC236}">
                <a16:creationId xmlns:a16="http://schemas.microsoft.com/office/drawing/2014/main" id="{6C3D0113-09D2-48BC-9B96-EE8AE8B74ADF}"/>
              </a:ext>
            </a:extLst>
          </p:cNvPr>
          <p:cNvSpPr/>
          <p:nvPr/>
        </p:nvSpPr>
        <p:spPr>
          <a:xfrm>
            <a:off x="19592150" y="10602416"/>
            <a:ext cx="986388" cy="986388"/>
          </a:xfrm>
          <a:prstGeom prst="flowChartConnector">
            <a:avLst/>
          </a:prstGeom>
          <a:solidFill>
            <a:srgbClr val="FD725F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FFFF"/>
                </a:solidFill>
              </a:rPr>
              <a:t>Service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</p:txBody>
      </p:sp>
      <p:sp>
        <p:nvSpPr>
          <p:cNvPr id="24" name="流程图: 接点 23">
            <a:extLst>
              <a:ext uri="{FF2B5EF4-FFF2-40B4-BE49-F238E27FC236}">
                <a16:creationId xmlns:a16="http://schemas.microsoft.com/office/drawing/2014/main" id="{1F9B3151-C79B-4DB8-8320-24FC20E3A4AA}"/>
              </a:ext>
            </a:extLst>
          </p:cNvPr>
          <p:cNvSpPr/>
          <p:nvPr/>
        </p:nvSpPr>
        <p:spPr>
          <a:xfrm>
            <a:off x="19592150" y="9282785"/>
            <a:ext cx="986388" cy="986388"/>
          </a:xfrm>
          <a:prstGeom prst="flowChartConnector">
            <a:avLst/>
          </a:prstGeom>
          <a:solidFill>
            <a:schemeClr val="tx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资源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50ADDF3-5579-4284-8C1F-3E0C447B0B23}"/>
              </a:ext>
            </a:extLst>
          </p:cNvPr>
          <p:cNvCxnSpPr>
            <a:stCxn id="23" idx="0"/>
            <a:endCxn id="24" idx="4"/>
          </p:cNvCxnSpPr>
          <p:nvPr/>
        </p:nvCxnSpPr>
        <p:spPr>
          <a:xfrm flipV="1">
            <a:off x="20085344" y="10269173"/>
            <a:ext cx="0" cy="333243"/>
          </a:xfrm>
          <a:prstGeom prst="straightConnector1">
            <a:avLst/>
          </a:prstGeom>
          <a:noFill/>
          <a:ln w="25400" cap="flat">
            <a:solidFill>
              <a:srgbClr val="5A5F5E"/>
            </a:solidFill>
            <a:prstDash val="solid"/>
            <a:miter lim="4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67AAEDC-D952-44E6-BF2E-D735F643AFEF}"/>
              </a:ext>
            </a:extLst>
          </p:cNvPr>
          <p:cNvCxnSpPr>
            <a:cxnSpLocks/>
          </p:cNvCxnSpPr>
          <p:nvPr/>
        </p:nvCxnSpPr>
        <p:spPr>
          <a:xfrm flipH="1">
            <a:off x="20506312" y="9282785"/>
            <a:ext cx="276365" cy="217350"/>
          </a:xfrm>
          <a:prstGeom prst="straightConnector1">
            <a:avLst/>
          </a:prstGeom>
          <a:noFill/>
          <a:ln w="25400" cap="flat">
            <a:solidFill>
              <a:srgbClr val="5A5F5E"/>
            </a:solidFill>
            <a:prstDash val="solid"/>
            <a:miter lim="4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4766F36-CD68-43BC-B7C6-F238B76BBDA8}"/>
              </a:ext>
            </a:extLst>
          </p:cNvPr>
          <p:cNvCxnSpPr>
            <a:stCxn id="21" idx="5"/>
          </p:cNvCxnSpPr>
          <p:nvPr/>
        </p:nvCxnSpPr>
        <p:spPr>
          <a:xfrm>
            <a:off x="19270071" y="9500135"/>
            <a:ext cx="322079" cy="144453"/>
          </a:xfrm>
          <a:prstGeom prst="straightConnector1">
            <a:avLst/>
          </a:prstGeom>
          <a:noFill/>
          <a:ln w="25400" cap="flat">
            <a:solidFill>
              <a:srgbClr val="5A5F5E"/>
            </a:solidFill>
            <a:prstDash val="solid"/>
            <a:miter lim="4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流程图: 接点 27">
            <a:extLst>
              <a:ext uri="{FF2B5EF4-FFF2-40B4-BE49-F238E27FC236}">
                <a16:creationId xmlns:a16="http://schemas.microsoft.com/office/drawing/2014/main" id="{D884F954-6AB1-4748-BFEC-1A02E88CCD48}"/>
              </a:ext>
            </a:extLst>
          </p:cNvPr>
          <p:cNvSpPr/>
          <p:nvPr/>
        </p:nvSpPr>
        <p:spPr>
          <a:xfrm>
            <a:off x="10642779" y="8658200"/>
            <a:ext cx="986388" cy="986388"/>
          </a:xfrm>
          <a:prstGeom prst="flowChartConnector">
            <a:avLst/>
          </a:prstGeom>
          <a:solidFill>
            <a:srgbClr val="00B05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APP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</p:txBody>
      </p:sp>
      <p:sp>
        <p:nvSpPr>
          <p:cNvPr id="29" name="流程图: 接点 28">
            <a:extLst>
              <a:ext uri="{FF2B5EF4-FFF2-40B4-BE49-F238E27FC236}">
                <a16:creationId xmlns:a16="http://schemas.microsoft.com/office/drawing/2014/main" id="{FF5E46B7-B25E-45E3-87B1-D464D2222CB6}"/>
              </a:ext>
            </a:extLst>
          </p:cNvPr>
          <p:cNvSpPr/>
          <p:nvPr/>
        </p:nvSpPr>
        <p:spPr>
          <a:xfrm>
            <a:off x="12997319" y="8658200"/>
            <a:ext cx="986388" cy="986388"/>
          </a:xfrm>
          <a:prstGeom prst="flowChartConnector">
            <a:avLst/>
          </a:prstGeom>
          <a:solidFill>
            <a:srgbClr val="00B05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APP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</p:txBody>
      </p:sp>
      <p:sp>
        <p:nvSpPr>
          <p:cNvPr id="30" name="流程图: 接点 29">
            <a:extLst>
              <a:ext uri="{FF2B5EF4-FFF2-40B4-BE49-F238E27FC236}">
                <a16:creationId xmlns:a16="http://schemas.microsoft.com/office/drawing/2014/main" id="{ED999589-2CB0-43DE-A3A9-CCDA4CAC8169}"/>
              </a:ext>
            </a:extLst>
          </p:cNvPr>
          <p:cNvSpPr/>
          <p:nvPr/>
        </p:nvSpPr>
        <p:spPr>
          <a:xfrm>
            <a:off x="11806793" y="9282785"/>
            <a:ext cx="986388" cy="986388"/>
          </a:xfrm>
          <a:prstGeom prst="flowChartConnector">
            <a:avLst/>
          </a:prstGeom>
          <a:solidFill>
            <a:schemeClr val="tx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资源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FDA6B8D-CA18-4E1E-8DB7-10A503FD10DA}"/>
              </a:ext>
            </a:extLst>
          </p:cNvPr>
          <p:cNvCxnSpPr>
            <a:cxnSpLocks/>
            <a:endCxn id="30" idx="4"/>
          </p:cNvCxnSpPr>
          <p:nvPr/>
        </p:nvCxnSpPr>
        <p:spPr>
          <a:xfrm flipV="1">
            <a:off x="12299987" y="10269173"/>
            <a:ext cx="0" cy="333243"/>
          </a:xfrm>
          <a:prstGeom prst="straightConnector1">
            <a:avLst/>
          </a:prstGeom>
          <a:noFill/>
          <a:ln w="25400" cap="flat">
            <a:solidFill>
              <a:srgbClr val="5A5F5E"/>
            </a:solidFill>
            <a:prstDash val="solid"/>
            <a:miter lim="4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1F8B9271-0EC0-4E2C-8076-BB2FEF54CCF8}"/>
              </a:ext>
            </a:extLst>
          </p:cNvPr>
          <p:cNvCxnSpPr>
            <a:cxnSpLocks/>
          </p:cNvCxnSpPr>
          <p:nvPr/>
        </p:nvCxnSpPr>
        <p:spPr>
          <a:xfrm flipH="1">
            <a:off x="12720955" y="9282785"/>
            <a:ext cx="276365" cy="217350"/>
          </a:xfrm>
          <a:prstGeom prst="straightConnector1">
            <a:avLst/>
          </a:prstGeom>
          <a:noFill/>
          <a:ln w="25400" cap="flat">
            <a:solidFill>
              <a:srgbClr val="5A5F5E"/>
            </a:solidFill>
            <a:prstDash val="solid"/>
            <a:miter lim="4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00A252C9-A328-4401-8F57-F839C9E45AB1}"/>
              </a:ext>
            </a:extLst>
          </p:cNvPr>
          <p:cNvCxnSpPr>
            <a:stCxn id="28" idx="5"/>
          </p:cNvCxnSpPr>
          <p:nvPr/>
        </p:nvCxnSpPr>
        <p:spPr>
          <a:xfrm>
            <a:off x="11484714" y="9500135"/>
            <a:ext cx="322079" cy="144453"/>
          </a:xfrm>
          <a:prstGeom prst="straightConnector1">
            <a:avLst/>
          </a:prstGeom>
          <a:noFill/>
          <a:ln w="25400" cap="flat">
            <a:solidFill>
              <a:srgbClr val="5A5F5E"/>
            </a:solidFill>
            <a:prstDash val="solid"/>
            <a:miter lim="4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流程图: 接点 33">
            <a:extLst>
              <a:ext uri="{FF2B5EF4-FFF2-40B4-BE49-F238E27FC236}">
                <a16:creationId xmlns:a16="http://schemas.microsoft.com/office/drawing/2014/main" id="{A9EE5295-CD77-49A8-9D7C-30FD94FF988D}"/>
              </a:ext>
            </a:extLst>
          </p:cNvPr>
          <p:cNvSpPr/>
          <p:nvPr/>
        </p:nvSpPr>
        <p:spPr>
          <a:xfrm>
            <a:off x="11806793" y="10602416"/>
            <a:ext cx="986388" cy="986388"/>
          </a:xfrm>
          <a:prstGeom prst="flowChartConnector">
            <a:avLst/>
          </a:prstGeom>
          <a:solidFill>
            <a:srgbClr val="00B05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APP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</p:txBody>
      </p:sp>
      <p:sp>
        <p:nvSpPr>
          <p:cNvPr id="35" name="流程图: 接点 34">
            <a:extLst>
              <a:ext uri="{FF2B5EF4-FFF2-40B4-BE49-F238E27FC236}">
                <a16:creationId xmlns:a16="http://schemas.microsoft.com/office/drawing/2014/main" id="{834F5BB8-5E40-489D-99AB-0AE318721906}"/>
              </a:ext>
            </a:extLst>
          </p:cNvPr>
          <p:cNvSpPr/>
          <p:nvPr/>
        </p:nvSpPr>
        <p:spPr>
          <a:xfrm>
            <a:off x="2736226" y="8658200"/>
            <a:ext cx="986388" cy="986388"/>
          </a:xfrm>
          <a:prstGeom prst="flowChartConnector">
            <a:avLst/>
          </a:prstGeom>
          <a:solidFill>
            <a:srgbClr val="00B05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APP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</p:txBody>
      </p:sp>
      <p:sp>
        <p:nvSpPr>
          <p:cNvPr id="36" name="流程图: 接点 35">
            <a:extLst>
              <a:ext uri="{FF2B5EF4-FFF2-40B4-BE49-F238E27FC236}">
                <a16:creationId xmlns:a16="http://schemas.microsoft.com/office/drawing/2014/main" id="{63217C69-5DBD-406A-9835-3D20E5F8E7A2}"/>
              </a:ext>
            </a:extLst>
          </p:cNvPr>
          <p:cNvSpPr/>
          <p:nvPr/>
        </p:nvSpPr>
        <p:spPr>
          <a:xfrm>
            <a:off x="5090766" y="8658200"/>
            <a:ext cx="986388" cy="986388"/>
          </a:xfrm>
          <a:prstGeom prst="flowChartConnector">
            <a:avLst/>
          </a:prstGeom>
          <a:solidFill>
            <a:srgbClr val="00B05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APP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</p:txBody>
      </p:sp>
      <p:sp>
        <p:nvSpPr>
          <p:cNvPr id="37" name="流程图: 接点 36">
            <a:extLst>
              <a:ext uri="{FF2B5EF4-FFF2-40B4-BE49-F238E27FC236}">
                <a16:creationId xmlns:a16="http://schemas.microsoft.com/office/drawing/2014/main" id="{1FD38D57-986F-4B19-A509-B8FD7AEC9BD4}"/>
              </a:ext>
            </a:extLst>
          </p:cNvPr>
          <p:cNvSpPr/>
          <p:nvPr/>
        </p:nvSpPr>
        <p:spPr>
          <a:xfrm>
            <a:off x="3953323" y="9282785"/>
            <a:ext cx="986388" cy="986388"/>
          </a:xfrm>
          <a:prstGeom prst="flowChartConnector">
            <a:avLst/>
          </a:prstGeom>
          <a:solidFill>
            <a:srgbClr val="FD725F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FFFF"/>
                </a:solidFill>
              </a:rPr>
              <a:t>Service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</p:txBody>
      </p:sp>
      <p:sp>
        <p:nvSpPr>
          <p:cNvPr id="38" name="流程图: 接点 37">
            <a:extLst>
              <a:ext uri="{FF2B5EF4-FFF2-40B4-BE49-F238E27FC236}">
                <a16:creationId xmlns:a16="http://schemas.microsoft.com/office/drawing/2014/main" id="{59D93390-C33B-4407-8780-28B14E6FDC53}"/>
              </a:ext>
            </a:extLst>
          </p:cNvPr>
          <p:cNvSpPr/>
          <p:nvPr/>
        </p:nvSpPr>
        <p:spPr>
          <a:xfrm>
            <a:off x="3953323" y="10602416"/>
            <a:ext cx="986388" cy="986388"/>
          </a:xfrm>
          <a:prstGeom prst="flowChartConnector">
            <a:avLst/>
          </a:prstGeom>
          <a:solidFill>
            <a:schemeClr val="tx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资源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8503E7C-604F-4EE7-8E5A-F4BA2F9D61F4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>
            <a:off x="4446517" y="10269173"/>
            <a:ext cx="0" cy="333243"/>
          </a:xfrm>
          <a:prstGeom prst="straightConnector1">
            <a:avLst/>
          </a:prstGeom>
          <a:noFill/>
          <a:ln w="25400" cap="flat">
            <a:solidFill>
              <a:srgbClr val="5A5F5E"/>
            </a:solidFill>
            <a:prstDash val="solid"/>
            <a:miter lim="4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83723763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产品定位">
            <a:extLst>
              <a:ext uri="{FF2B5EF4-FFF2-40B4-BE49-F238E27FC236}">
                <a16:creationId xmlns:a16="http://schemas.microsoft.com/office/drawing/2014/main" id="{54231A1B-9BB8-4831-BEE7-AB010FA20A05}"/>
              </a:ext>
            </a:extLst>
          </p:cNvPr>
          <p:cNvSpPr txBox="1"/>
          <p:nvPr/>
        </p:nvSpPr>
        <p:spPr>
          <a:xfrm>
            <a:off x="778732" y="332961"/>
            <a:ext cx="8244916" cy="15188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0311" tIns="90311" rIns="90311" bIns="90311" numCol="1" anchor="ctr">
            <a:noAutofit/>
          </a:bodyPr>
          <a:lstStyle>
            <a:lvl1pPr defTabSz="1467485">
              <a:defRPr sz="6400" b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zh-CN" alt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设计领先</a:t>
            </a:r>
            <a:endParaRPr sz="6000" b="1" dirty="0">
              <a:solidFill>
                <a:srgbClr val="000000"/>
              </a:solidFill>
              <a:latin typeface="MiSans W" panose="00000500000000000000" pitchFamily="50" charset="-122"/>
              <a:ea typeface="MiSans W" panose="00000500000000000000" pitchFamily="50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C5DA10-7E1D-4C17-9C9C-75B05B306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77" y="3923393"/>
            <a:ext cx="8054012" cy="586921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F4907C8-13D9-4228-803B-50843EFFB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1455" y="4432722"/>
            <a:ext cx="12722768" cy="485055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563B2CA-59BB-4A87-A0C9-76C111EA3E50}"/>
              </a:ext>
            </a:extLst>
          </p:cNvPr>
          <p:cNvSpPr txBox="1"/>
          <p:nvPr/>
        </p:nvSpPr>
        <p:spPr>
          <a:xfrm>
            <a:off x="2916583" y="11034464"/>
            <a:ext cx="3600400" cy="63671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 dirty="0">
                <a:latin typeface="MiSans W" panose="00000500000000000000" pitchFamily="50" charset="-122"/>
                <a:ea typeface="MiSans W" panose="00000500000000000000" pitchFamily="50" charset="-122"/>
              </a:rPr>
              <a:t>透明沙箱</a:t>
            </a: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MiSans W" panose="00000500000000000000" pitchFamily="50" charset="-122"/>
              <a:ea typeface="MiSans W" panose="00000500000000000000" pitchFamily="50" charset="-122"/>
              <a:sym typeface="Gill Sans Ligh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813DC8-A347-4962-9548-1A3824113703}"/>
              </a:ext>
            </a:extLst>
          </p:cNvPr>
          <p:cNvSpPr txBox="1"/>
          <p:nvPr/>
        </p:nvSpPr>
        <p:spPr>
          <a:xfrm>
            <a:off x="15532639" y="11034464"/>
            <a:ext cx="3600400" cy="63671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 dirty="0">
                <a:latin typeface="MiSans W" panose="00000500000000000000" pitchFamily="50" charset="-122"/>
                <a:ea typeface="MiSans W" panose="00000500000000000000" pitchFamily="50" charset="-122"/>
              </a:rPr>
              <a:t>树型插件</a:t>
            </a: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MiSans W" panose="00000500000000000000" pitchFamily="50" charset="-122"/>
              <a:ea typeface="MiSans W" panose="00000500000000000000" pitchFamily="50" charset="-122"/>
              <a:sym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51044341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产品定位">
            <a:extLst>
              <a:ext uri="{FF2B5EF4-FFF2-40B4-BE49-F238E27FC236}">
                <a16:creationId xmlns:a16="http://schemas.microsoft.com/office/drawing/2014/main" id="{54231A1B-9BB8-4831-BEE7-AB010FA20A05}"/>
              </a:ext>
            </a:extLst>
          </p:cNvPr>
          <p:cNvSpPr txBox="1"/>
          <p:nvPr/>
        </p:nvSpPr>
        <p:spPr>
          <a:xfrm>
            <a:off x="778732" y="332961"/>
            <a:ext cx="8244916" cy="15188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0311" tIns="90311" rIns="90311" bIns="90311" numCol="1" anchor="ctr">
            <a:noAutofit/>
          </a:bodyPr>
          <a:lstStyle>
            <a:lvl1pPr defTabSz="1467485">
              <a:defRPr sz="6400" b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zh-CN" alt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技术难点</a:t>
            </a:r>
            <a:endParaRPr sz="6000" b="1" dirty="0">
              <a:solidFill>
                <a:srgbClr val="000000"/>
              </a:solidFill>
              <a:latin typeface="MiSans W" panose="00000500000000000000" pitchFamily="50" charset="-122"/>
              <a:ea typeface="MiSans W" panose="00000500000000000000" pitchFamily="50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B52EB9E-095E-4A3D-B287-261535886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876" y="3771080"/>
            <a:ext cx="2960852" cy="2006800"/>
          </a:xfrm>
          <a:prstGeom prst="rect">
            <a:avLst/>
          </a:prstGeom>
        </p:spPr>
      </p:pic>
      <p:pic>
        <p:nvPicPr>
          <p:cNvPr id="2060" name="Picture 12" descr="联发科发布天玑9400+移动平台，旗舰AI和性能体验再升级-太平洋科技">
            <a:extLst>
              <a:ext uri="{FF2B5EF4-FFF2-40B4-BE49-F238E27FC236}">
                <a16:creationId xmlns:a16="http://schemas.microsoft.com/office/drawing/2014/main" id="{A4780B27-C2F7-4009-AC24-1F8FDB8B7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0135" y="4123388"/>
            <a:ext cx="2960852" cy="165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高通Snapdragon 8 Gen 4 規格曝光多核性能超越Apple M2">
            <a:extLst>
              <a:ext uri="{FF2B5EF4-FFF2-40B4-BE49-F238E27FC236}">
                <a16:creationId xmlns:a16="http://schemas.microsoft.com/office/drawing/2014/main" id="{6932068B-4384-4956-925E-BBEBC7264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392" y="4108418"/>
            <a:ext cx="2960854" cy="1665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9864E123-F46A-46AA-B525-0DC3C693222E}"/>
              </a:ext>
            </a:extLst>
          </p:cNvPr>
          <p:cNvSpPr txBox="1"/>
          <p:nvPr/>
        </p:nvSpPr>
        <p:spPr>
          <a:xfrm>
            <a:off x="1534816" y="4752471"/>
            <a:ext cx="4248472" cy="10675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4000" b="1" dirty="0">
                <a:solidFill>
                  <a:srgbClr val="000000"/>
                </a:solidFill>
              </a:rPr>
              <a:t>平台解耦</a:t>
            </a:r>
            <a:endParaRPr kumimoji="0" lang="zh-CN" altLang="en-US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ea typeface="+mn-ea"/>
              <a:cs typeface="+mn-cs"/>
              <a:sym typeface="Gill Sans Ligh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793D178-AA9D-42C6-8110-824D36805F92}"/>
              </a:ext>
            </a:extLst>
          </p:cNvPr>
          <p:cNvSpPr txBox="1"/>
          <p:nvPr/>
        </p:nvSpPr>
        <p:spPr>
          <a:xfrm>
            <a:off x="1534816" y="7049461"/>
            <a:ext cx="4248472" cy="10675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4000" b="1" dirty="0">
                <a:solidFill>
                  <a:srgbClr val="000000"/>
                </a:solidFill>
              </a:rPr>
              <a:t>异构计算</a:t>
            </a:r>
            <a:endParaRPr kumimoji="0" lang="zh-CN" altLang="en-US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ea typeface="+mn-ea"/>
              <a:cs typeface="+mn-cs"/>
              <a:sym typeface="Gill Sans Light"/>
            </a:endParaRPr>
          </a:p>
        </p:txBody>
      </p:sp>
      <p:pic>
        <p:nvPicPr>
          <p:cNvPr id="2064" name="Picture 16">
            <a:extLst>
              <a:ext uri="{FF2B5EF4-FFF2-40B4-BE49-F238E27FC236}">
                <a16:creationId xmlns:a16="http://schemas.microsoft.com/office/drawing/2014/main" id="{490A491A-CDE6-4831-AB0A-5B2120848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392" y="6503140"/>
            <a:ext cx="11014032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BBA7C6D0-20F7-439D-A0BE-B2DD9BF87675}"/>
              </a:ext>
            </a:extLst>
          </p:cNvPr>
          <p:cNvSpPr txBox="1"/>
          <p:nvPr/>
        </p:nvSpPr>
        <p:spPr>
          <a:xfrm>
            <a:off x="1534816" y="9346451"/>
            <a:ext cx="4248472" cy="10675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4000" b="1" dirty="0">
                <a:solidFill>
                  <a:srgbClr val="000000"/>
                </a:solidFill>
              </a:rPr>
              <a:t>下载集成</a:t>
            </a:r>
            <a:endParaRPr kumimoji="0" lang="zh-CN" altLang="en-US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ea typeface="+mn-ea"/>
              <a:cs typeface="+mn-cs"/>
              <a:sym typeface="Gill Sans Ligh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AE05229-51B0-4D5D-AB05-9A00EF077093}"/>
              </a:ext>
            </a:extLst>
          </p:cNvPr>
          <p:cNvSpPr txBox="1"/>
          <p:nvPr/>
        </p:nvSpPr>
        <p:spPr>
          <a:xfrm>
            <a:off x="1534816" y="11643442"/>
            <a:ext cx="4248472" cy="10675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0" lang="zh-CN" altLang="en-US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+mn-ea"/>
                <a:cs typeface="+mn-cs"/>
                <a:sym typeface="Gill Sans Light"/>
              </a:rPr>
              <a:t>系统运行</a:t>
            </a:r>
            <a:endParaRPr kumimoji="0" lang="zh-CN" altLang="en-US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ea typeface="+mn-ea"/>
              <a:cs typeface="+mn-cs"/>
              <a:sym typeface="Gill Sans Light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B20AE3A-ED1A-415D-A03A-64807356BC19}"/>
              </a:ext>
            </a:extLst>
          </p:cNvPr>
          <p:cNvSpPr/>
          <p:nvPr/>
        </p:nvSpPr>
        <p:spPr>
          <a:xfrm>
            <a:off x="10926837" y="9556250"/>
            <a:ext cx="1620000" cy="648000"/>
          </a:xfrm>
          <a:prstGeom prst="roundRect">
            <a:avLst/>
          </a:prstGeom>
          <a:solidFill>
            <a:srgbClr val="00B0F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ea"/>
                <a:cs typeface="+mn-cs"/>
                <a:sym typeface="Gill Sans Light"/>
              </a:rPr>
              <a:t>安全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D2E36EB-B3BD-4701-9655-62A4B0370C8C}"/>
              </a:ext>
            </a:extLst>
          </p:cNvPr>
          <p:cNvSpPr txBox="1"/>
          <p:nvPr/>
        </p:nvSpPr>
        <p:spPr>
          <a:xfrm>
            <a:off x="1534816" y="2455481"/>
            <a:ext cx="4248472" cy="10675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4000" b="1" dirty="0">
                <a:solidFill>
                  <a:srgbClr val="000000"/>
                </a:solidFill>
              </a:rPr>
              <a:t>推理部署</a:t>
            </a:r>
            <a:endParaRPr kumimoji="0" lang="zh-CN" altLang="en-US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ea typeface="+mn-ea"/>
              <a:cs typeface="+mn-cs"/>
              <a:sym typeface="Gill Sans Light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979AB82-34C8-41F0-9C99-29653DE7E793}"/>
              </a:ext>
            </a:extLst>
          </p:cNvPr>
          <p:cNvSpPr/>
          <p:nvPr/>
        </p:nvSpPr>
        <p:spPr>
          <a:xfrm>
            <a:off x="6719392" y="2665280"/>
            <a:ext cx="1620000" cy="648000"/>
          </a:xfrm>
          <a:prstGeom prst="roundRect">
            <a:avLst/>
          </a:prstGeom>
          <a:solidFill>
            <a:srgbClr val="FFC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ea"/>
                <a:cs typeface="+mn-cs"/>
                <a:sym typeface="Gill Sans Light"/>
              </a:rPr>
              <a:t>剪枝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9A6D8EA-6291-4B11-B33A-06FA9BB2B498}"/>
              </a:ext>
            </a:extLst>
          </p:cNvPr>
          <p:cNvSpPr/>
          <p:nvPr/>
        </p:nvSpPr>
        <p:spPr>
          <a:xfrm>
            <a:off x="10926837" y="2665280"/>
            <a:ext cx="1620000" cy="648000"/>
          </a:xfrm>
          <a:prstGeom prst="roundRect">
            <a:avLst/>
          </a:prstGeom>
          <a:solidFill>
            <a:srgbClr val="FFC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ea"/>
                <a:cs typeface="+mn-cs"/>
                <a:sym typeface="Gill Sans Light"/>
              </a:rPr>
              <a:t>量化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2EBED32F-1E9F-4F8A-9784-F7581F34957B}"/>
              </a:ext>
            </a:extLst>
          </p:cNvPr>
          <p:cNvSpPr/>
          <p:nvPr/>
        </p:nvSpPr>
        <p:spPr>
          <a:xfrm>
            <a:off x="15134282" y="2665280"/>
            <a:ext cx="1620000" cy="648000"/>
          </a:xfrm>
          <a:prstGeom prst="roundRect">
            <a:avLst/>
          </a:prstGeom>
          <a:solidFill>
            <a:srgbClr val="FFC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ea"/>
                <a:cs typeface="+mn-cs"/>
                <a:sym typeface="Gill Sans Light"/>
              </a:rPr>
              <a:t>转换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2C3C094-C94B-4493-8021-24F98F0436B8}"/>
              </a:ext>
            </a:extLst>
          </p:cNvPr>
          <p:cNvSpPr/>
          <p:nvPr/>
        </p:nvSpPr>
        <p:spPr>
          <a:xfrm>
            <a:off x="19341728" y="2665280"/>
            <a:ext cx="1620000" cy="648000"/>
          </a:xfrm>
          <a:prstGeom prst="roundRect">
            <a:avLst/>
          </a:prstGeom>
          <a:solidFill>
            <a:srgbClr val="FFC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ea"/>
                <a:cs typeface="+mn-cs"/>
                <a:sym typeface="Gill Sans Light"/>
              </a:rPr>
              <a:t>加密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47B7058-2B53-4BFE-85C0-E6E5E7F67C99}"/>
              </a:ext>
            </a:extLst>
          </p:cNvPr>
          <p:cNvSpPr/>
          <p:nvPr/>
        </p:nvSpPr>
        <p:spPr>
          <a:xfrm>
            <a:off x="15134282" y="9556250"/>
            <a:ext cx="1620000" cy="648000"/>
          </a:xfrm>
          <a:prstGeom prst="roundRect">
            <a:avLst/>
          </a:prstGeom>
          <a:solidFill>
            <a:srgbClr val="00B0F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ea"/>
                <a:cs typeface="+mn-cs"/>
                <a:sym typeface="Gill Sans Light"/>
              </a:rPr>
              <a:t>网络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ECBC960-4A84-4CE7-86E6-976401E2BC6C}"/>
              </a:ext>
            </a:extLst>
          </p:cNvPr>
          <p:cNvSpPr/>
          <p:nvPr/>
        </p:nvSpPr>
        <p:spPr>
          <a:xfrm>
            <a:off x="6719392" y="9556250"/>
            <a:ext cx="1620000" cy="648000"/>
          </a:xfrm>
          <a:prstGeom prst="roundRect">
            <a:avLst/>
          </a:prstGeom>
          <a:solidFill>
            <a:srgbClr val="00B0F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ea"/>
                <a:cs typeface="+mn-cs"/>
                <a:sym typeface="Gill Sans Light"/>
              </a:rPr>
              <a:t>存储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0EC3C129-9A5B-403C-BBA4-48158C7A63F4}"/>
              </a:ext>
            </a:extLst>
          </p:cNvPr>
          <p:cNvSpPr/>
          <p:nvPr/>
        </p:nvSpPr>
        <p:spPr>
          <a:xfrm>
            <a:off x="19341727" y="9561272"/>
            <a:ext cx="1620000" cy="648000"/>
          </a:xfrm>
          <a:prstGeom prst="roundRect">
            <a:avLst/>
          </a:prstGeom>
          <a:solidFill>
            <a:srgbClr val="00B0F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+mn-ea"/>
              </a:rPr>
              <a:t>增量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ea"/>
              <a:cs typeface="+mn-cs"/>
              <a:sym typeface="Gill Sans Light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51FCACC-802A-4047-BA97-4511D471AC95}"/>
              </a:ext>
            </a:extLst>
          </p:cNvPr>
          <p:cNvSpPr/>
          <p:nvPr/>
        </p:nvSpPr>
        <p:spPr>
          <a:xfrm>
            <a:off x="6717445" y="11853241"/>
            <a:ext cx="1620000" cy="6480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ea"/>
                <a:cs typeface="+mn-cs"/>
                <a:sym typeface="Gill Sans Light"/>
              </a:rPr>
              <a:t>内存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082025F-82A6-433B-8913-FE5E98BE157A}"/>
              </a:ext>
            </a:extLst>
          </p:cNvPr>
          <p:cNvSpPr/>
          <p:nvPr/>
        </p:nvSpPr>
        <p:spPr>
          <a:xfrm>
            <a:off x="10926837" y="11853240"/>
            <a:ext cx="1620000" cy="6480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ea"/>
                <a:cs typeface="+mn-cs"/>
                <a:sym typeface="Gill Sans Light"/>
              </a:rPr>
              <a:t>性能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7A65C9E1-0013-4E05-B696-087ED19AD5C8}"/>
              </a:ext>
            </a:extLst>
          </p:cNvPr>
          <p:cNvSpPr/>
          <p:nvPr/>
        </p:nvSpPr>
        <p:spPr>
          <a:xfrm>
            <a:off x="15134282" y="11853240"/>
            <a:ext cx="1620000" cy="6480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ea"/>
                <a:cs typeface="+mn-cs"/>
                <a:sym typeface="Gill Sans Light"/>
              </a:rPr>
              <a:t>功耗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BB62DB1-0344-4DC0-AEDB-66E90FDA92C7}"/>
              </a:ext>
            </a:extLst>
          </p:cNvPr>
          <p:cNvSpPr/>
          <p:nvPr/>
        </p:nvSpPr>
        <p:spPr>
          <a:xfrm>
            <a:off x="19341727" y="11853240"/>
            <a:ext cx="1620000" cy="6480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ea"/>
                <a:cs typeface="+mn-cs"/>
                <a:sym typeface="Gill Sans Light"/>
              </a:rPr>
              <a:t>稳定</a:t>
            </a:r>
          </a:p>
        </p:txBody>
      </p:sp>
    </p:spTree>
    <p:extLst>
      <p:ext uri="{BB962C8B-B14F-4D97-AF65-F5344CB8AC3E}">
        <p14:creationId xmlns:p14="http://schemas.microsoft.com/office/powerpoint/2010/main" val="186368457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产品定位">
            <a:extLst>
              <a:ext uri="{FF2B5EF4-FFF2-40B4-BE49-F238E27FC236}">
                <a16:creationId xmlns:a16="http://schemas.microsoft.com/office/drawing/2014/main" id="{54231A1B-9BB8-4831-BEE7-AB010FA20A05}"/>
              </a:ext>
            </a:extLst>
          </p:cNvPr>
          <p:cNvSpPr txBox="1"/>
          <p:nvPr/>
        </p:nvSpPr>
        <p:spPr>
          <a:xfrm>
            <a:off x="778732" y="332961"/>
            <a:ext cx="8244916" cy="15188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0311" tIns="90311" rIns="90311" bIns="90311" numCol="1" anchor="ctr">
            <a:noAutofit/>
          </a:bodyPr>
          <a:lstStyle>
            <a:lvl1pPr defTabSz="1467485">
              <a:defRPr sz="6400" b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zh-CN" alt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端侧大模型</a:t>
            </a:r>
            <a:endParaRPr sz="6000" b="1" dirty="0">
              <a:solidFill>
                <a:srgbClr val="000000"/>
              </a:solidFill>
              <a:latin typeface="MiSans W" panose="00000500000000000000" pitchFamily="50" charset="-122"/>
              <a:ea typeface="MiSans W" panose="00000500000000000000" pitchFamily="50" charset="-122"/>
            </a:endParaRPr>
          </a:p>
        </p:txBody>
      </p:sp>
      <p:pic>
        <p:nvPicPr>
          <p:cNvPr id="2050" name="Picture 2" descr="Stanford-Alpaca">
            <a:extLst>
              <a:ext uri="{FF2B5EF4-FFF2-40B4-BE49-F238E27FC236}">
                <a16:creationId xmlns:a16="http://schemas.microsoft.com/office/drawing/2014/main" id="{CE812118-984A-460A-8668-C422ECC71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518" y="3829277"/>
            <a:ext cx="6740700" cy="260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nable Gemini NANO 'On-Device' on Google Pixel 8 &amp; 8a - Google Pixel  Community">
            <a:extLst>
              <a:ext uri="{FF2B5EF4-FFF2-40B4-BE49-F238E27FC236}">
                <a16:creationId xmlns:a16="http://schemas.microsoft.com/office/drawing/2014/main" id="{099CCBD9-AC5B-46DA-B34D-32305F9F5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672" y="3770803"/>
            <a:ext cx="5155734" cy="271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DD7437D-6237-406E-A28E-9C8D06E18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0392" y="3473624"/>
            <a:ext cx="5335138" cy="3311466"/>
          </a:xfrm>
          <a:prstGeom prst="rect">
            <a:avLst/>
          </a:prstGeom>
        </p:spPr>
      </p:pic>
      <p:pic>
        <p:nvPicPr>
          <p:cNvPr id="3076" name="Picture 4" descr="图解大模型微调系列之：大模型低秩适配器LoRA（原理篇） - 知乎">
            <a:extLst>
              <a:ext uri="{FF2B5EF4-FFF2-40B4-BE49-F238E27FC236}">
                <a16:creationId xmlns:a16="http://schemas.microsoft.com/office/drawing/2014/main" id="{1D9518D8-0650-4501-9AD8-11ABC192C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8147" y="7650087"/>
            <a:ext cx="8685501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5D537B3-118D-4F77-81E4-545979EDC280}"/>
              </a:ext>
            </a:extLst>
          </p:cNvPr>
          <p:cNvSpPr txBox="1"/>
          <p:nvPr/>
        </p:nvSpPr>
        <p:spPr>
          <a:xfrm>
            <a:off x="2247518" y="8874224"/>
            <a:ext cx="9469051" cy="236026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 err="1">
                <a:solidFill>
                  <a:srgbClr val="000000"/>
                </a:solidFill>
              </a:rPr>
              <a:t>LoRA</a:t>
            </a:r>
            <a:r>
              <a:rPr lang="en-US" altLang="zh-CN" sz="3200" b="1" dirty="0">
                <a:solidFill>
                  <a:srgbClr val="000000"/>
                </a:solidFill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</a:rPr>
              <a:t>微调</a:t>
            </a:r>
            <a:endParaRPr lang="en-US" altLang="zh-CN" sz="3200" b="1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000000"/>
                </a:solidFill>
              </a:rPr>
              <a:t>优点</a:t>
            </a:r>
            <a:r>
              <a:rPr lang="zh-CN" altLang="en-US" sz="3200" dirty="0">
                <a:solidFill>
                  <a:srgbClr val="000000"/>
                </a:solidFill>
              </a:rPr>
              <a:t>：成本低、效率高、可复用</a:t>
            </a:r>
            <a:endParaRPr lang="en-US" altLang="zh-CN" sz="32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kumimoji="0" lang="zh-CN" altLang="en-US" sz="32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ea typeface="+mn-ea"/>
                <a:cs typeface="+mn-cs"/>
                <a:sym typeface="Gill Sans Light"/>
              </a:rPr>
              <a:t>缺点</a:t>
            </a: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+mn-ea"/>
                <a:cs typeface="+mn-cs"/>
                <a:sym typeface="Gill Sans Light"/>
              </a:rPr>
              <a:t>：调参难、适配弱、易冲突</a:t>
            </a:r>
          </a:p>
        </p:txBody>
      </p:sp>
    </p:spTree>
    <p:extLst>
      <p:ext uri="{BB962C8B-B14F-4D97-AF65-F5344CB8AC3E}">
        <p14:creationId xmlns:p14="http://schemas.microsoft.com/office/powerpoint/2010/main" val="138090618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产品定位">
            <a:extLst>
              <a:ext uri="{FF2B5EF4-FFF2-40B4-BE49-F238E27FC236}">
                <a16:creationId xmlns:a16="http://schemas.microsoft.com/office/drawing/2014/main" id="{54231A1B-9BB8-4831-BEE7-AB010FA20A05}"/>
              </a:ext>
            </a:extLst>
          </p:cNvPr>
          <p:cNvSpPr txBox="1"/>
          <p:nvPr/>
        </p:nvSpPr>
        <p:spPr>
          <a:xfrm>
            <a:off x="778732" y="332961"/>
            <a:ext cx="8244916" cy="15188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0311" tIns="90311" rIns="90311" bIns="90311" numCol="1" anchor="ctr">
            <a:noAutofit/>
          </a:bodyPr>
          <a:lstStyle>
            <a:lvl1pPr defTabSz="1467485">
              <a:defRPr sz="6400" b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zh-CN" alt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平台拓展</a:t>
            </a:r>
            <a:endParaRPr sz="6000" b="1" dirty="0">
              <a:solidFill>
                <a:srgbClr val="000000"/>
              </a:solidFill>
              <a:latin typeface="MiSans W" panose="00000500000000000000" pitchFamily="50" charset="-122"/>
              <a:ea typeface="MiSans W" panose="00000500000000000000" pitchFamily="50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26D8B9-6962-4910-8E71-5CBD4757F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456" y="3257600"/>
            <a:ext cx="14113568" cy="793888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BBE343A-9A3C-46CE-B4FE-A8D0ACD3E441}"/>
              </a:ext>
            </a:extLst>
          </p:cNvPr>
          <p:cNvSpPr txBox="1"/>
          <p:nvPr/>
        </p:nvSpPr>
        <p:spPr>
          <a:xfrm>
            <a:off x="2056874" y="5308247"/>
            <a:ext cx="4374486" cy="383758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000000"/>
                </a:solidFill>
              </a:rPr>
              <a:t>简易 </a:t>
            </a:r>
            <a:r>
              <a:rPr lang="en-US" altLang="zh-CN" sz="3200" b="1" dirty="0">
                <a:solidFill>
                  <a:srgbClr val="000000"/>
                </a:solidFill>
              </a:rPr>
              <a:t>MCP </a:t>
            </a:r>
            <a:r>
              <a:rPr lang="zh-CN" altLang="en-US" sz="3200" b="1" dirty="0">
                <a:solidFill>
                  <a:srgbClr val="000000"/>
                </a:solidFill>
              </a:rPr>
              <a:t>示意</a:t>
            </a:r>
            <a:endParaRPr lang="en-US" altLang="zh-CN" sz="3200" b="1" dirty="0">
              <a:solidFill>
                <a:srgbClr val="000000"/>
              </a:solidFill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zh-CN" altLang="en-US" sz="3200" dirty="0">
                <a:solidFill>
                  <a:srgbClr val="000000"/>
                </a:solidFill>
              </a:rPr>
              <a:t>决策规划</a:t>
            </a:r>
            <a:endParaRPr lang="en-US" altLang="zh-CN" sz="3200" dirty="0">
              <a:solidFill>
                <a:srgbClr val="000000"/>
              </a:solidFill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zh-CN" altLang="en-US" sz="3200" dirty="0">
                <a:solidFill>
                  <a:srgbClr val="000000"/>
                </a:solidFill>
              </a:rPr>
              <a:t>能力编排</a:t>
            </a:r>
            <a:endParaRPr lang="en-US" altLang="zh-CN" sz="3200" dirty="0">
              <a:solidFill>
                <a:srgbClr val="000000"/>
              </a:solidFill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+mn-ea"/>
                <a:cs typeface="+mn-cs"/>
                <a:sym typeface="Gill Sans Light"/>
              </a:rPr>
              <a:t>能力调度</a:t>
            </a:r>
            <a:endParaRPr kumimoji="0" lang="en-US" altLang="zh-CN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ea typeface="+mn-ea"/>
              <a:cs typeface="+mn-cs"/>
              <a:sym typeface="Gill Sans Light"/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zh-CN" altLang="en-US" sz="3200" dirty="0">
                <a:solidFill>
                  <a:srgbClr val="000000"/>
                </a:solidFill>
              </a:rPr>
              <a:t>数据通信</a:t>
            </a:r>
            <a:endParaRPr kumimoji="0" lang="en-US" altLang="zh-CN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ea typeface="+mn-ea"/>
              <a:cs typeface="+mn-cs"/>
              <a:sym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82699266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产品定位">
            <a:extLst>
              <a:ext uri="{FF2B5EF4-FFF2-40B4-BE49-F238E27FC236}">
                <a16:creationId xmlns:a16="http://schemas.microsoft.com/office/drawing/2014/main" id="{54231A1B-9BB8-4831-BEE7-AB010FA20A05}"/>
              </a:ext>
            </a:extLst>
          </p:cNvPr>
          <p:cNvSpPr txBox="1"/>
          <p:nvPr/>
        </p:nvSpPr>
        <p:spPr>
          <a:xfrm>
            <a:off x="778732" y="332961"/>
            <a:ext cx="8244916" cy="15188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0311" tIns="90311" rIns="90311" bIns="90311" numCol="1" anchor="ctr">
            <a:noAutofit/>
          </a:bodyPr>
          <a:lstStyle>
            <a:lvl1pPr defTabSz="1467485">
              <a:defRPr sz="6400" b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AIOS </a:t>
            </a:r>
            <a:r>
              <a:rPr lang="zh-CN" alt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架构</a:t>
            </a:r>
            <a:endParaRPr sz="6000" b="1" dirty="0">
              <a:solidFill>
                <a:srgbClr val="000000"/>
              </a:solidFill>
              <a:latin typeface="MiSans W" panose="00000500000000000000" pitchFamily="50" charset="-122"/>
              <a:ea typeface="MiSans W" panose="00000500000000000000" pitchFamily="50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85133B-9E35-40A8-9D13-81E473360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704" y="3545632"/>
            <a:ext cx="13777530" cy="774986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2885C83-6388-4847-AB95-026EF6CBAE76}"/>
              </a:ext>
            </a:extLst>
          </p:cNvPr>
          <p:cNvSpPr txBox="1"/>
          <p:nvPr/>
        </p:nvSpPr>
        <p:spPr>
          <a:xfrm>
            <a:off x="958752" y="5132437"/>
            <a:ext cx="8064896" cy="457625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AI Agent</a:t>
            </a: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，即 </a:t>
            </a:r>
            <a:r>
              <a:rPr kumimoji="0" lang="en-US" altLang="zh-CN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AI </a:t>
            </a: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智能体，以大模型为核心引擎，通过感知环境收集信息，再经规划决策生成任务序列，最后执行行动以达成意图目标。</a:t>
            </a:r>
            <a:endParaRPr kumimoji="0" lang="en-US" altLang="zh-CN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  <a:p>
            <a:pPr marL="0" marR="0" indent="0" algn="just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太一 </a:t>
            </a:r>
            <a:r>
              <a:rPr kumimoji="0" lang="en-US" altLang="zh-CN" sz="32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Gill Sans Light"/>
              </a:rPr>
              <a:t>AI </a:t>
            </a:r>
            <a:r>
              <a:rPr lang="zh-CN" altLang="en-US" sz="3200" b="1" dirty="0">
                <a:solidFill>
                  <a:srgbClr val="FF0000"/>
                </a:solidFill>
              </a:rPr>
              <a:t>平台是 </a:t>
            </a:r>
            <a:r>
              <a:rPr lang="en-US" altLang="zh-CN" sz="3200" b="1" dirty="0">
                <a:solidFill>
                  <a:srgbClr val="FF0000"/>
                </a:solidFill>
              </a:rPr>
              <a:t>AIOS</a:t>
            </a:r>
            <a:r>
              <a:rPr lang="zh-CN" altLang="en-US" sz="3200" b="1" dirty="0">
                <a:solidFill>
                  <a:srgbClr val="FF0000"/>
                </a:solidFill>
              </a:rPr>
              <a:t>（或 </a:t>
            </a:r>
            <a:r>
              <a:rPr lang="en-US" altLang="zh-CN" sz="3200" b="1" dirty="0">
                <a:solidFill>
                  <a:srgbClr val="FF0000"/>
                </a:solidFill>
              </a:rPr>
              <a:t>AI Agent</a:t>
            </a:r>
            <a:r>
              <a:rPr lang="zh-CN" altLang="en-US" sz="3200" b="1" dirty="0">
                <a:solidFill>
                  <a:srgbClr val="FF0000"/>
                </a:solidFill>
              </a:rPr>
              <a:t>）的 </a:t>
            </a:r>
            <a:r>
              <a:rPr lang="en-US" altLang="zh-CN" sz="3200" b="1" dirty="0">
                <a:solidFill>
                  <a:srgbClr val="FF0000"/>
                </a:solidFill>
              </a:rPr>
              <a:t>AI </a:t>
            </a:r>
            <a:r>
              <a:rPr lang="zh-CN" altLang="en-US" sz="3200" b="1" dirty="0">
                <a:solidFill>
                  <a:srgbClr val="FF0000"/>
                </a:solidFill>
              </a:rPr>
              <a:t>能力底座。</a:t>
            </a:r>
            <a:endParaRPr kumimoji="0" lang="en-US" altLang="zh-CN" sz="32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92329304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产品定位">
            <a:extLst>
              <a:ext uri="{FF2B5EF4-FFF2-40B4-BE49-F238E27FC236}">
                <a16:creationId xmlns:a16="http://schemas.microsoft.com/office/drawing/2014/main" id="{54231A1B-9BB8-4831-BEE7-AB010FA20A05}"/>
              </a:ext>
            </a:extLst>
          </p:cNvPr>
          <p:cNvSpPr txBox="1"/>
          <p:nvPr/>
        </p:nvSpPr>
        <p:spPr>
          <a:xfrm>
            <a:off x="778732" y="332961"/>
            <a:ext cx="8244916" cy="15188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0311" tIns="90311" rIns="90311" bIns="90311" numCol="1" anchor="ctr">
            <a:noAutofit/>
          </a:bodyPr>
          <a:lstStyle>
            <a:lvl1pPr defTabSz="1467485">
              <a:defRPr sz="6400" b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AIOS </a:t>
            </a:r>
            <a:r>
              <a:rPr lang="zh-CN" alt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内容</a:t>
            </a:r>
            <a:endParaRPr sz="6000" b="1" dirty="0">
              <a:solidFill>
                <a:srgbClr val="000000"/>
              </a:solidFill>
              <a:latin typeface="MiSans W" panose="00000500000000000000" pitchFamily="50" charset="-122"/>
              <a:ea typeface="MiSans W" panose="00000500000000000000" pitchFamily="5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69561B-ADA8-4FDB-A132-9039F0D5E094}"/>
              </a:ext>
            </a:extLst>
          </p:cNvPr>
          <p:cNvSpPr txBox="1"/>
          <p:nvPr/>
        </p:nvSpPr>
        <p:spPr>
          <a:xfrm>
            <a:off x="1318792" y="2177480"/>
            <a:ext cx="21746416" cy="108012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algn="just">
              <a:lnSpc>
                <a:spcPts val="4500"/>
              </a:lnSpc>
            </a:pPr>
            <a:r>
              <a:rPr lang="zh-CN" altLang="en-US" sz="3200" b="1" dirty="0"/>
              <a:t>应用服务</a:t>
            </a:r>
            <a:r>
              <a:rPr lang="zh-CN" altLang="en-US" sz="3200" dirty="0"/>
              <a:t>：面向用户的 </a:t>
            </a:r>
            <a:r>
              <a:rPr lang="en-US" altLang="zh-CN" sz="3200" dirty="0"/>
              <a:t>UI </a:t>
            </a:r>
            <a:r>
              <a:rPr lang="zh-CN" altLang="en-US" sz="3200" dirty="0"/>
              <a:t>交互层</a:t>
            </a:r>
          </a:p>
          <a:p>
            <a:pPr marL="742950" lvl="1" indent="-285750" algn="just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/>
              <a:t>场景服务：</a:t>
            </a:r>
            <a:r>
              <a:rPr lang="zh-CN" altLang="en-US" sz="3200" dirty="0"/>
              <a:t>以用户的需求为中心实现服务直达</a:t>
            </a:r>
          </a:p>
          <a:p>
            <a:pPr marL="914400" lvl="2" indent="0" algn="just">
              <a:lnSpc>
                <a:spcPts val="4500"/>
              </a:lnSpc>
            </a:pPr>
            <a:r>
              <a:rPr lang="zh-CN" altLang="en-US" sz="3200" b="1" dirty="0"/>
              <a:t>设计一致性</a:t>
            </a:r>
            <a:r>
              <a:rPr lang="zh-CN" altLang="en-US" sz="3200" dirty="0"/>
              <a:t>：主动智能类 </a:t>
            </a:r>
            <a:r>
              <a:rPr lang="en-US" altLang="zh-CN" sz="3200" dirty="0"/>
              <a:t>Agent </a:t>
            </a:r>
            <a:r>
              <a:rPr lang="zh-CN" altLang="en-US" sz="3200" dirty="0"/>
              <a:t>服务将由 </a:t>
            </a:r>
            <a:r>
              <a:rPr lang="en-US" altLang="zh-CN" sz="3200" dirty="0"/>
              <a:t>System UI</a:t>
            </a:r>
            <a:r>
              <a:rPr lang="zh-CN" altLang="en-US" sz="3200" dirty="0"/>
              <a:t>（桌面、负一屏、锁屏和状态栏）统一承载，并基于内核层的</a:t>
            </a:r>
            <a:r>
              <a:rPr lang="zh-CN" altLang="en-US" sz="3200" dirty="0">
                <a:solidFill>
                  <a:srgbClr val="D83931"/>
                </a:solidFill>
                <a:effectLst/>
              </a:rPr>
              <a:t>渲染引擎</a:t>
            </a:r>
            <a:r>
              <a:rPr lang="zh-CN" altLang="en-US" sz="3200" dirty="0"/>
              <a:t>统一绘制成卡片；</a:t>
            </a:r>
          </a:p>
          <a:p>
            <a:pPr marL="914400" lvl="2" indent="0" algn="just">
              <a:lnSpc>
                <a:spcPts val="4500"/>
              </a:lnSpc>
            </a:pPr>
            <a:r>
              <a:rPr lang="zh-CN" altLang="en-US" sz="3200" b="1" dirty="0"/>
              <a:t>内容差异性</a:t>
            </a:r>
            <a:r>
              <a:rPr lang="zh-CN" altLang="en-US" sz="3200" dirty="0"/>
              <a:t>：</a:t>
            </a:r>
            <a:r>
              <a:rPr lang="en-US" altLang="zh-CN" sz="3200" dirty="0"/>
              <a:t>Agent </a:t>
            </a:r>
            <a:r>
              <a:rPr lang="zh-CN" altLang="en-US" sz="3200" dirty="0"/>
              <a:t>服务开发方是系统应用或三方应用，内容由各开发商提供；</a:t>
            </a:r>
          </a:p>
          <a:p>
            <a:pPr marL="914400" lvl="2" indent="0" algn="just">
              <a:lnSpc>
                <a:spcPts val="4500"/>
              </a:lnSpc>
            </a:pPr>
            <a:r>
              <a:rPr lang="zh-CN" altLang="en-US" sz="3200" b="1" dirty="0"/>
              <a:t>开发轻量性</a:t>
            </a:r>
            <a:r>
              <a:rPr lang="zh-CN" altLang="en-US" sz="3200" dirty="0"/>
              <a:t>：相较于应用，</a:t>
            </a:r>
            <a:r>
              <a:rPr lang="en-US" altLang="zh-CN" sz="3200" dirty="0"/>
              <a:t>Agent </a:t>
            </a:r>
            <a:r>
              <a:rPr lang="zh-CN" altLang="en-US" sz="3200" dirty="0"/>
              <a:t>只需要按照特定协议进行资源配置和服务组装，即可完成开发与发布；</a:t>
            </a:r>
          </a:p>
          <a:p>
            <a:pPr marL="914400" lvl="2" indent="0" algn="just">
              <a:lnSpc>
                <a:spcPts val="4500"/>
              </a:lnSpc>
            </a:pPr>
            <a:r>
              <a:rPr lang="zh-CN" altLang="en-US" sz="3200" b="1" dirty="0"/>
              <a:t>推送精准性</a:t>
            </a:r>
            <a:r>
              <a:rPr lang="zh-CN" altLang="en-US" sz="3200" dirty="0"/>
              <a:t>：</a:t>
            </a:r>
            <a:r>
              <a:rPr lang="en-US" altLang="zh-CN" sz="3200" dirty="0"/>
              <a:t>Agent </a:t>
            </a:r>
            <a:r>
              <a:rPr lang="zh-CN" altLang="en-US" sz="3200" dirty="0"/>
              <a:t>服务依托于各垂域 </a:t>
            </a:r>
            <a:r>
              <a:rPr lang="en-US" altLang="zh-CN" sz="3200" dirty="0"/>
              <a:t>Agent </a:t>
            </a:r>
            <a:r>
              <a:rPr lang="zh-CN" altLang="en-US" sz="3200" dirty="0">
                <a:solidFill>
                  <a:srgbClr val="D83931"/>
                </a:solidFill>
                <a:effectLst/>
              </a:rPr>
              <a:t>决策引擎</a:t>
            </a:r>
            <a:r>
              <a:rPr lang="zh-CN" altLang="en-US" sz="3200" dirty="0"/>
              <a:t>，分析用户习惯，精准直达目标用户，实现所思即所得。</a:t>
            </a:r>
          </a:p>
          <a:p>
            <a:pPr marL="742950" lvl="1" indent="-285750" algn="just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/>
              <a:t>应用交互</a:t>
            </a:r>
            <a:r>
              <a:rPr lang="zh-CN" altLang="en-US" sz="3200" dirty="0"/>
              <a:t>：场景服务的载体，实现内容数据的交互，包含桌面、负一屏、锁屏和状态栏。</a:t>
            </a:r>
          </a:p>
          <a:p>
            <a:pPr algn="just">
              <a:lnSpc>
                <a:spcPts val="4500"/>
              </a:lnSpc>
            </a:pPr>
            <a:r>
              <a:rPr lang="zh-CN" altLang="en-US" sz="3200" b="1" dirty="0"/>
              <a:t>系统框架</a:t>
            </a:r>
            <a:endParaRPr lang="zh-CN" altLang="en-US" sz="3200" dirty="0"/>
          </a:p>
          <a:p>
            <a:pPr marL="742950" lvl="1" indent="-285750" algn="just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/>
              <a:t>接口协议</a:t>
            </a:r>
            <a:r>
              <a:rPr lang="zh-CN" altLang="en-US" sz="3200" dirty="0"/>
              <a:t>：面向上层交互提供轻量且协议通用的接口，新增 </a:t>
            </a:r>
            <a:r>
              <a:rPr lang="en-US" altLang="zh-CN" sz="3200" dirty="0"/>
              <a:t>Agent </a:t>
            </a:r>
            <a:r>
              <a:rPr lang="zh-CN" altLang="en-US" sz="3200" dirty="0"/>
              <a:t>接口；</a:t>
            </a:r>
          </a:p>
          <a:p>
            <a:pPr marL="742950" lvl="1" indent="-285750" algn="just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/>
              <a:t>服务组件</a:t>
            </a:r>
            <a:r>
              <a:rPr lang="zh-CN" altLang="en-US" sz="3200" dirty="0"/>
              <a:t>：接口的实现层</a:t>
            </a:r>
          </a:p>
          <a:p>
            <a:pPr algn="just">
              <a:lnSpc>
                <a:spcPts val="4500"/>
              </a:lnSpc>
            </a:pPr>
            <a:r>
              <a:rPr lang="zh-CN" altLang="en-US" sz="3200" b="1" dirty="0"/>
              <a:t>运行时库</a:t>
            </a:r>
            <a:endParaRPr lang="zh-CN" altLang="en-US" sz="3200" dirty="0"/>
          </a:p>
          <a:p>
            <a:pPr marL="742950" lvl="1" indent="-285750" algn="just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en-US" altLang="zh-CN" sz="3200" b="1" dirty="0"/>
              <a:t>Agent Store</a:t>
            </a:r>
            <a:r>
              <a:rPr lang="zh-CN" altLang="en-US" sz="3200" dirty="0"/>
              <a:t>：提供了决策类、操控类 </a:t>
            </a:r>
            <a:r>
              <a:rPr lang="en-US" altLang="zh-CN" sz="3200" dirty="0"/>
              <a:t>Agent </a:t>
            </a:r>
            <a:r>
              <a:rPr lang="zh-CN" altLang="en-US" sz="3200" dirty="0"/>
              <a:t>和其他诸如搜索、出行等差异化 </a:t>
            </a:r>
            <a:r>
              <a:rPr lang="en-US" altLang="zh-CN" sz="3200" dirty="0" err="1"/>
              <a:t>Agnet</a:t>
            </a:r>
            <a:r>
              <a:rPr lang="zh-CN" altLang="en-US" sz="3200" dirty="0"/>
              <a:t>；</a:t>
            </a:r>
          </a:p>
          <a:p>
            <a:pPr marL="742950" lvl="1" indent="-285750" algn="just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en-US" altLang="zh-CN" sz="3200" b="1" dirty="0"/>
              <a:t>Runtime Core</a:t>
            </a:r>
            <a:r>
              <a:rPr lang="zh-CN" altLang="en-US" sz="3200" dirty="0"/>
              <a:t>：运行时核心，</a:t>
            </a:r>
            <a:r>
              <a:rPr lang="en-US" altLang="zh-CN" sz="3200" dirty="0"/>
              <a:t>Agent </a:t>
            </a:r>
            <a:r>
              <a:rPr lang="zh-CN" altLang="en-US" sz="3200" dirty="0"/>
              <a:t>资源管理、运行时生命周期调度、安全加密、自动任务等；</a:t>
            </a:r>
          </a:p>
          <a:p>
            <a:pPr algn="just">
              <a:lnSpc>
                <a:spcPts val="4500"/>
              </a:lnSpc>
            </a:pPr>
            <a:r>
              <a:rPr lang="zh-CN" altLang="en-US" sz="3200" b="1" dirty="0"/>
              <a:t>平台能力</a:t>
            </a:r>
            <a:r>
              <a:rPr lang="zh-CN" altLang="en-US" sz="3200" dirty="0"/>
              <a:t>：</a:t>
            </a:r>
          </a:p>
          <a:p>
            <a:pPr marL="742950" lvl="1" indent="-285750" algn="just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en-US" altLang="zh-CN" sz="3200" b="1" dirty="0"/>
              <a:t>Agent </a:t>
            </a:r>
            <a:r>
              <a:rPr lang="zh-CN" altLang="en-US" sz="3200" b="1" dirty="0"/>
              <a:t>基础能力</a:t>
            </a:r>
            <a:r>
              <a:rPr lang="zh-CN" altLang="en-US" sz="3200" dirty="0"/>
              <a:t>：全场景数据感知和个性化存储记忆等；</a:t>
            </a:r>
          </a:p>
          <a:p>
            <a:pPr marL="742950" lvl="1" indent="-285750" algn="just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/>
              <a:t>工程化算力平台</a:t>
            </a:r>
            <a:r>
              <a:rPr lang="zh-CN" altLang="en-US" sz="3200" dirty="0"/>
              <a:t>：跨端算力、大模型和智能体平台等实现技术领先性，赋能体验优化。</a:t>
            </a:r>
          </a:p>
        </p:txBody>
      </p:sp>
    </p:spTree>
    <p:extLst>
      <p:ext uri="{BB962C8B-B14F-4D97-AF65-F5344CB8AC3E}">
        <p14:creationId xmlns:p14="http://schemas.microsoft.com/office/powerpoint/2010/main" val="274105343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产品定位">
            <a:extLst>
              <a:ext uri="{FF2B5EF4-FFF2-40B4-BE49-F238E27FC236}">
                <a16:creationId xmlns:a16="http://schemas.microsoft.com/office/drawing/2014/main" id="{54231A1B-9BB8-4831-BEE7-AB010FA20A05}"/>
              </a:ext>
            </a:extLst>
          </p:cNvPr>
          <p:cNvSpPr txBox="1"/>
          <p:nvPr/>
        </p:nvSpPr>
        <p:spPr>
          <a:xfrm>
            <a:off x="778732" y="332961"/>
            <a:ext cx="8244916" cy="15188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0311" tIns="90311" rIns="90311" bIns="90311" numCol="1" anchor="ctr">
            <a:noAutofit/>
          </a:bodyPr>
          <a:lstStyle>
            <a:lvl1pPr defTabSz="1467485">
              <a:defRPr sz="6400" b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zh-CN" alt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需求与服务</a:t>
            </a:r>
            <a:endParaRPr sz="6000" b="1" dirty="0">
              <a:solidFill>
                <a:srgbClr val="000000"/>
              </a:solidFill>
              <a:latin typeface="MiSans W" panose="00000500000000000000" pitchFamily="50" charset="-122"/>
              <a:ea typeface="MiSans W" panose="00000500000000000000" pitchFamily="50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640CC25-4AD2-446A-9E2C-330313FED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952" y="5057800"/>
            <a:ext cx="18562272" cy="5904656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E49DB7AB-DDA9-4667-9FE0-0C19C411531C}"/>
              </a:ext>
            </a:extLst>
          </p:cNvPr>
          <p:cNvSpPr txBox="1"/>
          <p:nvPr/>
        </p:nvSpPr>
        <p:spPr>
          <a:xfrm>
            <a:off x="1023160" y="2471411"/>
            <a:ext cx="22337680" cy="139076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000000"/>
                </a:solidFill>
              </a:rPr>
              <a:t>用户提出 </a:t>
            </a:r>
            <a:r>
              <a:rPr lang="zh-CN" altLang="en-US" sz="5400" b="1" dirty="0">
                <a:solidFill>
                  <a:srgbClr val="00B050"/>
                </a:solidFill>
              </a:rPr>
              <a:t>需求</a:t>
            </a:r>
            <a:r>
              <a:rPr lang="zh-CN" altLang="en-US" sz="4000" b="1" dirty="0">
                <a:solidFill>
                  <a:srgbClr val="000000"/>
                </a:solidFill>
              </a:rPr>
              <a:t> 系统提供 </a:t>
            </a:r>
            <a:r>
              <a:rPr lang="zh-CN" altLang="en-US" sz="5400" b="1" dirty="0">
                <a:solidFill>
                  <a:srgbClr val="FFC000"/>
                </a:solidFill>
              </a:rPr>
              <a:t>服务</a:t>
            </a:r>
            <a:endParaRPr lang="en-US" altLang="zh-CN" sz="5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41570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产品定位">
            <a:extLst>
              <a:ext uri="{FF2B5EF4-FFF2-40B4-BE49-F238E27FC236}">
                <a16:creationId xmlns:a16="http://schemas.microsoft.com/office/drawing/2014/main" id="{54231A1B-9BB8-4831-BEE7-AB010FA20A05}"/>
              </a:ext>
            </a:extLst>
          </p:cNvPr>
          <p:cNvSpPr txBox="1"/>
          <p:nvPr/>
        </p:nvSpPr>
        <p:spPr>
          <a:xfrm>
            <a:off x="778732" y="332961"/>
            <a:ext cx="8244916" cy="15188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0311" tIns="90311" rIns="90311" bIns="90311" numCol="1" anchor="ctr">
            <a:noAutofit/>
          </a:bodyPr>
          <a:lstStyle>
            <a:lvl1pPr defTabSz="1467485">
              <a:defRPr sz="6400" b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zh-CN" altLang="en-US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下一步工作</a:t>
            </a:r>
            <a:endParaRPr sz="6000" b="1" dirty="0">
              <a:solidFill>
                <a:srgbClr val="000000"/>
              </a:solidFill>
              <a:latin typeface="MiSans W" panose="00000500000000000000" pitchFamily="50" charset="-122"/>
              <a:ea typeface="MiSans W" panose="00000500000000000000" pitchFamily="50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672C15-7053-4A42-93E2-DD66CB6E4BB6}"/>
              </a:ext>
            </a:extLst>
          </p:cNvPr>
          <p:cNvSpPr txBox="1"/>
          <p:nvPr/>
        </p:nvSpPr>
        <p:spPr>
          <a:xfrm>
            <a:off x="659396" y="1836663"/>
            <a:ext cx="23065208" cy="1171808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algn="just">
              <a:lnSpc>
                <a:spcPts val="4000"/>
              </a:lnSpc>
            </a:pPr>
            <a:r>
              <a:rPr lang="zh-CN" altLang="en-US" sz="2800" b="1" dirty="0"/>
              <a:t>感知，全场景且低功耗的感知服务</a:t>
            </a:r>
            <a:r>
              <a:rPr lang="zh-CN" altLang="en-US" sz="2800" dirty="0"/>
              <a:t>。为了能够充分学习用户的性格习惯，需要覆盖面非常广的数据来源，即场景定义。</a:t>
            </a:r>
          </a:p>
          <a:p>
            <a:pPr marL="742950" lvl="1" indent="-28575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出行：行程、购票、交通、地点等；</a:t>
            </a:r>
          </a:p>
          <a:p>
            <a:pPr marL="742950" lvl="1" indent="-28575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购物：应用、店铺、价格、款式等；</a:t>
            </a:r>
          </a:p>
          <a:p>
            <a:pPr marL="742950" lvl="1" indent="-28575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生活：美食、摄影、追剧、观影等；</a:t>
            </a:r>
          </a:p>
          <a:p>
            <a:pPr marL="742950" lvl="1" indent="-28575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办公：文档、会议、笔记、设备等；</a:t>
            </a:r>
          </a:p>
          <a:p>
            <a:pPr marL="742950" lvl="1" indent="-28575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用机：电量、温度、手势、时间等；</a:t>
            </a:r>
          </a:p>
          <a:p>
            <a:pPr marL="742950" lvl="1" indent="-28575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...</a:t>
            </a:r>
          </a:p>
          <a:p>
            <a:pPr marL="742950" lvl="1" indent="-28575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/>
              <a:t>原始数据</a:t>
            </a:r>
            <a:r>
              <a:rPr lang="zh-CN" altLang="en-US" sz="2800" dirty="0"/>
              <a:t>，自研或与三方合作一起为数据建模，以便提供更好更精准的意图服务；</a:t>
            </a:r>
          </a:p>
          <a:p>
            <a:pPr marL="742950" lvl="1" indent="-28575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/>
              <a:t>意图触发</a:t>
            </a:r>
            <a:r>
              <a:rPr lang="zh-CN" altLang="en-US" sz="2800" dirty="0"/>
              <a:t>，理解用户与环境的变化并通知决策引擎主动生成相应的意图服务。</a:t>
            </a:r>
          </a:p>
          <a:p>
            <a:pPr algn="just">
              <a:lnSpc>
                <a:spcPts val="4000"/>
              </a:lnSpc>
            </a:pPr>
            <a:r>
              <a:rPr lang="zh-CN" altLang="en-US" sz="2800" b="1" dirty="0"/>
              <a:t>数据，安全且真实可靠的用户数据。</a:t>
            </a:r>
            <a:r>
              <a:rPr lang="zh-CN" altLang="en-US" sz="2800" dirty="0"/>
              <a:t>海量的原始数据不仅可以强化大模型的学习能力，降低大模型训练的数据构建成本，还能够推动产品在更多差异化场景创新落地，并且将与三方应用合作共赢。因此，在满足安全隐私的条件下收集用户数据到云服务将是重点工作目标：</a:t>
            </a:r>
          </a:p>
          <a:p>
            <a:pPr marL="742950" lvl="1" indent="-28575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/>
              <a:t>用户主动反馈业务数据</a:t>
            </a:r>
            <a:r>
              <a:rPr lang="zh-CN" altLang="en-US" sz="2800" dirty="0"/>
              <a:t>：搭建统一的数据反馈框架，使得不同模块的不同业务场景，用户都可报告问题并上报数据，如以 </a:t>
            </a:r>
            <a:r>
              <a:rPr lang="en-US" altLang="zh-CN" sz="2800" dirty="0"/>
              <a:t>toast </a:t>
            </a:r>
            <a:r>
              <a:rPr lang="zh-CN" altLang="en-US" sz="2800" dirty="0"/>
              <a:t>的方式在场景下提示、以图标按钮的方式嵌入到各业务场景等；</a:t>
            </a:r>
          </a:p>
          <a:p>
            <a:pPr marL="742950" lvl="1" indent="-28575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/>
              <a:t>后台自动收集并上报数据</a:t>
            </a:r>
            <a:r>
              <a:rPr lang="zh-CN" altLang="en-US" sz="2800" dirty="0"/>
              <a:t>：未来所有的 </a:t>
            </a:r>
            <a:r>
              <a:rPr lang="en-US" altLang="zh-CN" sz="2800" dirty="0"/>
              <a:t>AI </a:t>
            </a:r>
            <a:r>
              <a:rPr lang="zh-CN" altLang="en-US" sz="2800" dirty="0"/>
              <a:t>业务都将访问 </a:t>
            </a:r>
            <a:r>
              <a:rPr lang="en-US" altLang="zh-CN" sz="2800" dirty="0"/>
              <a:t>AI </a:t>
            </a:r>
            <a:r>
              <a:rPr lang="zh-CN" altLang="en-US" sz="2800" dirty="0"/>
              <a:t>引擎（</a:t>
            </a:r>
            <a:r>
              <a:rPr lang="en-US" altLang="zh-CN" sz="2800" dirty="0" err="1"/>
              <a:t>AIService</a:t>
            </a:r>
            <a:r>
              <a:rPr lang="zh-CN" altLang="en-US" sz="2800" dirty="0"/>
              <a:t>）以获取 </a:t>
            </a:r>
            <a:r>
              <a:rPr lang="en-US" altLang="zh-CN" sz="2800" dirty="0"/>
              <a:t>AI </a:t>
            </a:r>
            <a:r>
              <a:rPr lang="zh-CN" altLang="en-US" sz="2800" dirty="0"/>
              <a:t>能力，因此 </a:t>
            </a:r>
            <a:r>
              <a:rPr lang="en-US" altLang="zh-CN" sz="2800" dirty="0"/>
              <a:t>AI </a:t>
            </a:r>
            <a:r>
              <a:rPr lang="zh-CN" altLang="en-US" sz="2800" dirty="0"/>
              <a:t>引擎将能拿到全部自研和三方的数据，可适时地收集、加密、上报和存储数据，用于后续模型训练、效果优化、特征分析等；</a:t>
            </a:r>
          </a:p>
          <a:p>
            <a:pPr marL="742950" lvl="1" indent="-28575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/>
              <a:t>世界地图</a:t>
            </a:r>
            <a:r>
              <a:rPr lang="zh-CN" altLang="en-US" sz="2800" dirty="0"/>
              <a:t>：不同国家</a:t>
            </a:r>
            <a:r>
              <a:rPr lang="en-US" altLang="zh-CN" sz="2800" dirty="0"/>
              <a:t>/</a:t>
            </a:r>
            <a:r>
              <a:rPr lang="zh-CN" altLang="en-US" sz="2800" dirty="0"/>
              <a:t>地区</a:t>
            </a:r>
            <a:r>
              <a:rPr lang="en-US" altLang="zh-CN" sz="2800" dirty="0"/>
              <a:t>/</a:t>
            </a:r>
            <a:r>
              <a:rPr lang="zh-CN" altLang="en-US" sz="2800" dirty="0"/>
              <a:t>城市的人们使用不同的功能的频率分布、数据特征分布，以便精准推送服务和个性化定制功能。</a:t>
            </a:r>
          </a:p>
          <a:p>
            <a:pPr algn="just">
              <a:lnSpc>
                <a:spcPts val="4000"/>
              </a:lnSpc>
            </a:pPr>
            <a:r>
              <a:rPr lang="zh-CN" altLang="en-US" sz="2800" b="1" dirty="0"/>
              <a:t>记忆，个性化且持续性的记忆中心。</a:t>
            </a:r>
            <a:r>
              <a:rPr lang="zh-CN" altLang="en-US" sz="2800" dirty="0"/>
              <a:t>基于大模型的结构化数据提取，并与感知场景关联分析得到用户的特征数据。可用于以下场景：</a:t>
            </a:r>
          </a:p>
          <a:p>
            <a:pPr marL="742950" lvl="1" indent="-28575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/>
              <a:t>知识库</a:t>
            </a:r>
            <a:r>
              <a:rPr lang="zh-CN" altLang="en-US" sz="2800" dirty="0"/>
              <a:t>：记录用户碎片化的记忆，是陪伴用户一生的百科全书，是用户价值高昂的数字资产，影响用户的换机行为，增强品牌粘性；</a:t>
            </a:r>
          </a:p>
          <a:p>
            <a:pPr marL="742950" lvl="1" indent="-28575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/>
              <a:t>时光机</a:t>
            </a:r>
            <a:r>
              <a:rPr lang="zh-CN" altLang="en-US" sz="2800" dirty="0"/>
              <a:t>：摘要总结，并按类型、时间等整理用户记忆，方便随时回顾，不仅减轻用户的用脑负担，并且提高搜索查询效率；</a:t>
            </a:r>
          </a:p>
          <a:p>
            <a:pPr marL="742950" lvl="1" indent="-28575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/>
              <a:t>预言家</a:t>
            </a:r>
            <a:r>
              <a:rPr lang="zh-CN" altLang="en-US" sz="2800" dirty="0"/>
              <a:t>：根据记忆的特征数据预测用户未来的动作并提前做好规划，如阅读推荐、证件到期、日程提醒等。</a:t>
            </a:r>
          </a:p>
          <a:p>
            <a:pPr algn="just">
              <a:lnSpc>
                <a:spcPts val="4000"/>
              </a:lnSpc>
            </a:pPr>
            <a:r>
              <a:rPr lang="zh-CN" altLang="en-US" sz="2800" b="1" dirty="0"/>
              <a:t>计算，跨设备且高性能的计算平台</a:t>
            </a:r>
            <a:r>
              <a:rPr lang="zh-CN" altLang="en-US" sz="2800" dirty="0"/>
              <a:t>。</a:t>
            </a:r>
          </a:p>
          <a:p>
            <a:pPr marL="742950" lvl="1" indent="-285750" algn="just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/>
              <a:t>去中心化的设备组网实现算力共享</a:t>
            </a:r>
            <a:r>
              <a:rPr lang="zh-CN" altLang="en-US" sz="2800" dirty="0"/>
              <a:t>：不仅可以实现服务在设备间的畅通流转，还可以实现设备的低负载低功耗工作；</a:t>
            </a:r>
          </a:p>
        </p:txBody>
      </p:sp>
    </p:spTree>
    <p:extLst>
      <p:ext uri="{BB962C8B-B14F-4D97-AF65-F5344CB8AC3E}">
        <p14:creationId xmlns:p14="http://schemas.microsoft.com/office/powerpoint/2010/main" val="135102028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>
            <a:extLst>
              <a:ext uri="{FF2B5EF4-FFF2-40B4-BE49-F238E27FC236}">
                <a16:creationId xmlns:a16="http://schemas.microsoft.com/office/drawing/2014/main" id="{B01E68AE-2599-4763-AD7B-71D43B3AE8DE}"/>
              </a:ext>
            </a:extLst>
          </p:cNvPr>
          <p:cNvSpPr txBox="1"/>
          <p:nvPr/>
        </p:nvSpPr>
        <p:spPr>
          <a:xfrm>
            <a:off x="7620000" y="6410960"/>
            <a:ext cx="9144000" cy="894080"/>
          </a:xfrm>
        </p:spPr>
        <p:txBody>
          <a:bodyPr>
            <a:noAutofit/>
          </a:bodyPr>
          <a:lstStyle>
            <a:lvl1pPr marL="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48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9144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4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8288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27432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36576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45720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54864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64008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7315200" marR="0" indent="0" algn="ctr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hangingPunct="1"/>
            <a:r>
              <a:rPr lang="en-US" altLang="zh-CN" sz="6000" b="1" dirty="0">
                <a:solidFill>
                  <a:srgbClr val="000000"/>
                </a:solidFill>
                <a:latin typeface="MiSans W" panose="00000500000000000000" pitchFamily="50" charset="-122"/>
                <a:ea typeface="MiSans W" panose="00000500000000000000" pitchFamily="50" charset="-122"/>
              </a:rPr>
              <a:t>Thanks</a:t>
            </a:r>
            <a:endParaRPr lang="zh-CN" altLang="en-US" sz="6000" b="1" dirty="0">
              <a:solidFill>
                <a:srgbClr val="000000"/>
              </a:solidFill>
              <a:latin typeface="MiSans W" panose="00000500000000000000" pitchFamily="50" charset="-122"/>
              <a:ea typeface="MiSans W" panose="00000500000000000000" pitchFamily="5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154586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Showroom">
  <a:themeElements>
    <a:clrScheme name="Showroom">
      <a:dk1>
        <a:srgbClr val="535353"/>
      </a:dk1>
      <a:lt1>
        <a:srgbClr val="340053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自定义 1">
      <a:majorFont>
        <a:latin typeface="Consolas"/>
        <a:ea typeface="微软雅黑"/>
        <a:cs typeface="Helvetica"/>
      </a:majorFont>
      <a:minorFont>
        <a:latin typeface="Consolas"/>
        <a:ea typeface="微软雅黑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6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6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Helvetica"/>
        <a:ea typeface="Helvetica"/>
        <a:cs typeface="Helvetica"/>
      </a:majorFont>
      <a:minorFont>
        <a:latin typeface="Gill Sans Light"/>
        <a:ea typeface="Gill Sans Light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6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6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10905</TotalTime>
  <Words>1386</Words>
  <Application>Microsoft Office PowerPoint</Application>
  <PresentationFormat>自定义</PresentationFormat>
  <Paragraphs>139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★时尚中黑</vt:lpstr>
      <vt:lpstr>Helvetica Light</vt:lpstr>
      <vt:lpstr>Helvetica Neue</vt:lpstr>
      <vt:lpstr>MiSans W</vt:lpstr>
      <vt:lpstr>微软雅黑</vt:lpstr>
      <vt:lpstr>Arial</vt:lpstr>
      <vt:lpstr>Consolas</vt:lpstr>
      <vt:lpstr>Showroom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Jiaxin</dc:creator>
  <cp:lastModifiedBy>常前前</cp:lastModifiedBy>
  <cp:revision>251</cp:revision>
  <dcterms:created xsi:type="dcterms:W3CDTF">2023-01-02T09:47:26Z</dcterms:created>
  <dcterms:modified xsi:type="dcterms:W3CDTF">2025-08-30T08:37:52Z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WMf2b595bfce444746842628f98c681dea">
    <vt:lpwstr>CWM+6iUxfLO2blwivUqiBy5aMHrjbqD8zjBno4pRwJEHX0u7L6ztR/itAJqf3ZCrV0h+5UdUpDQHIjFeoaxSB6cng==</vt:lpwstr>
  </property>
  <property fmtid="{D5CDD505-2E9C-101B-9397-08002B2CF9AE}" pid="3" name="CWMee2b6dd940374dcca6521ba5d5f30b4e">
    <vt:lpwstr>CWMuK/297JLrkLgovqBbGN+wynPVu0utEGeF3/DfLryuZm5rQwVqPWJOz+/FQeBiScWHkjeKBbPxxg5ssdPwExLcA==</vt:lpwstr>
  </property>
  <property fmtid="{D5CDD505-2E9C-101B-9397-08002B2CF9AE}" pid="4" name="KSOProductBuildVer">
    <vt:lpwstr>2052-0.0.0.0</vt:lpwstr>
  </property>
  <property fmtid="{D5CDD505-2E9C-101B-9397-08002B2CF9AE}" pid="5" name="CWM1afed3c0f75a11ef800029f7000029f7">
    <vt:lpwstr>CWM8IgjvbcVTnoUN0sRj5xZmCRfHv6vYax/S3xskY9821E8Fm3OV1eDmSjcP1CG1BVilIzd1d5+vuTdTUiTSIHDaQ==</vt:lpwstr>
  </property>
  <property fmtid="{D5CDD505-2E9C-101B-9397-08002B2CF9AE}" pid="6" name="CWM37695690872711f080002f8600002f86">
    <vt:lpwstr>CWMsFo0sb+CKlBEfI3V8uj/oAlm86YI+f22RluAFPc1XClikAO8WGl3m24s0SPmIuNX73N9HwS9iShtauX4UsphNg==</vt:lpwstr>
  </property>
  <property fmtid="{D5CDD505-2E9C-101B-9397-08002B2CF9AE}" pid="7" name="fileWhereFroms">
    <vt:lpwstr>PpjeLB1gRN0lwrPqMaCTkjLDBaCQJxbsh9o/ygJdK42Ie3Zroi4V+a83RlYm6eGr9mwS9BxgK6vWIvSB1LDvTyKzO8sIvi2XyJmdBQxiGwiL1Kex5PfDuKQOg5o6epURBvuHc42uLKS8084avSBHnd3mNwCkX8ytCBZJh+zu77kc7rn4gfjQLOsClwuTcPggtFPOSPYW2XFlyv73iGDxY/pB4g/ekBvYcfOcPW31sEIh111jI94wV1fpSH3MBV/l9CmoY6FBxMvlv5MQrnYW9g==</vt:lpwstr>
  </property>
</Properties>
</file>