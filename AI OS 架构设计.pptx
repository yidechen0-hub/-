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1778" r:id="rId3"/>
    <p:sldId id="2914" r:id="rId4"/>
    <p:sldId id="2935" r:id="rId5"/>
    <p:sldId id="2963" r:id="rId6"/>
    <p:sldId id="2918" r:id="rId7"/>
    <p:sldId id="2937" r:id="rId8"/>
    <p:sldId id="2954" r:id="rId9"/>
    <p:sldId id="2916" r:id="rId10"/>
    <p:sldId id="2955" r:id="rId11"/>
    <p:sldId id="2936" r:id="rId12"/>
    <p:sldId id="2922" r:id="rId14"/>
    <p:sldId id="2919" r:id="rId15"/>
    <p:sldId id="2957" r:id="rId16"/>
    <p:sldId id="2923" r:id="rId17"/>
    <p:sldId id="292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ng Xu" initials="Y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1FD"/>
    <a:srgbClr val="6194FB"/>
    <a:srgbClr val="F8F8F8"/>
    <a:srgbClr val="FF9900"/>
    <a:srgbClr val="FF6B01"/>
    <a:srgbClr val="347DE3"/>
    <a:srgbClr val="8CB1FE"/>
    <a:srgbClr val="8CB1FC"/>
    <a:srgbClr val="FF8521"/>
    <a:srgbClr val="FF9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997" autoAdjust="0"/>
    <p:restoredTop sz="94814" autoAdjust="0"/>
  </p:normalViewPr>
  <p:slideViewPr>
    <p:cSldViewPr snapToGrid="0" showGuides="1">
      <p:cViewPr varScale="1">
        <p:scale>
          <a:sx n="83" d="100"/>
          <a:sy n="83" d="100"/>
        </p:scale>
        <p:origin x="31" y="389"/>
      </p:cViewPr>
      <p:guideLst>
        <p:guide pos="343"/>
        <p:guide pos="7401"/>
        <p:guide orient="horz" pos="764"/>
        <p:guide orient="horz" pos="3069"/>
      </p:guideLst>
    </p:cSldViewPr>
  </p:slideViewPr>
  <p:outlineViewPr>
    <p:cViewPr>
      <p:scale>
        <a:sx n="33" d="100"/>
        <a:sy n="33" d="100"/>
      </p:scale>
      <p:origin x="0" y="-24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BE6FB-4983-42F5-B216-1A2ADEE7DF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额叶（</a:t>
            </a:r>
            <a:r>
              <a:rPr lang="en-US" altLang="zh-CN"/>
              <a:t>Frontal Lobe</a:t>
            </a:r>
            <a:r>
              <a:rPr lang="zh-CN" altLang="en-US"/>
              <a:t>）：决策与运动控制</a:t>
            </a:r>
            <a:endParaRPr lang="zh-CN" altLang="en-US"/>
          </a:p>
          <a:p>
            <a:r>
              <a:rPr lang="zh-CN" altLang="en-US"/>
              <a:t>运动控制：通过初级运动皮层（位于中央前回）调控身体对侧的自主运动（如抬手、走路）。</a:t>
            </a:r>
            <a:endParaRPr lang="zh-CN" altLang="en-US"/>
          </a:p>
          <a:p>
            <a:r>
              <a:rPr lang="zh-CN" altLang="en-US"/>
              <a:t>高级认知：包括决策、计划、问题解决（前额叶皮层），例如制定日程、权衡利弊。</a:t>
            </a:r>
            <a:endParaRPr lang="zh-CN" altLang="en-US"/>
          </a:p>
          <a:p>
            <a:r>
              <a:rPr lang="zh-CN" altLang="en-US"/>
              <a:t>语言表达：布洛卡区（左半球额叶下部）负责语言的产生和表达，损伤会导致 “表达性失语症”（能理解但无法说话）。</a:t>
            </a:r>
            <a:endParaRPr lang="zh-CN" altLang="en-US"/>
          </a:p>
          <a:p>
            <a:r>
              <a:rPr lang="zh-CN" altLang="en-US"/>
              <a:t>人格与社会行为：前额叶损伤可能导致冲动、社交障碍（如菲尼亚斯・盖奇案例）。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顶叶（</a:t>
            </a:r>
            <a:r>
              <a:rPr lang="en-US" altLang="zh-CN"/>
              <a:t>Parietal Lobe</a:t>
            </a:r>
            <a:r>
              <a:rPr lang="zh-CN" altLang="en-US"/>
              <a:t>）：感觉整合与空间认知</a:t>
            </a:r>
            <a:endParaRPr lang="zh-CN" altLang="en-US"/>
          </a:p>
          <a:p>
            <a:r>
              <a:rPr lang="zh-CN" altLang="en-US"/>
              <a:t>躯体感觉处理：初级躯体感觉皮层（中央后回）接收身体对侧的触觉、痛觉、温度觉和本体感觉（如肢体位置）。</a:t>
            </a:r>
            <a:endParaRPr lang="zh-CN" altLang="en-US"/>
          </a:p>
          <a:p>
            <a:r>
              <a:rPr lang="zh-CN" altLang="en-US"/>
              <a:t>空间感知：整合视觉、触觉信息，判断物体位置、距离和自身空间方位（如闭眼睛能摸到鼻子）。</a:t>
            </a:r>
            <a:endParaRPr lang="zh-CN" altLang="en-US"/>
          </a:p>
          <a:p>
            <a:r>
              <a:rPr lang="zh-CN" altLang="en-US"/>
              <a:t>数学与逻辑：左半球顶叶参与数字运算和逻辑推理，右半球顶叶负责空间想象（如拼图、地图导航）。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颞叶（</a:t>
            </a:r>
            <a:r>
              <a:rPr lang="en-US" altLang="zh-CN"/>
              <a:t>Temporal Lobe</a:t>
            </a:r>
            <a:r>
              <a:rPr lang="zh-CN" altLang="en-US"/>
              <a:t>）：听觉与记忆存储</a:t>
            </a:r>
            <a:endParaRPr lang="zh-CN" altLang="en-US"/>
          </a:p>
          <a:p>
            <a:r>
              <a:rPr lang="zh-CN" altLang="en-US"/>
              <a:t>听觉处理：初级听觉皮层接收并解析声音信息（音调、音量、语言）。</a:t>
            </a:r>
            <a:endParaRPr lang="zh-CN" altLang="en-US"/>
          </a:p>
          <a:p>
            <a:r>
              <a:rPr lang="zh-CN" altLang="en-US"/>
              <a:t>语言理解：韦尼克区（左半球颞叶上部）负责语言的理解，损伤会导致 “接受性失语症”（能说话但语无伦次，无法理解他人）。</a:t>
            </a:r>
            <a:endParaRPr lang="zh-CN" altLang="en-US"/>
          </a:p>
          <a:p>
            <a:r>
              <a:rPr lang="zh-CN" altLang="en-US"/>
              <a:t>记忆存储：与海马体（颞叶内侧）协同，将短期记忆转化为长期记忆（如记住一个名字、一段经历）。</a:t>
            </a:r>
            <a:endParaRPr lang="zh-CN" altLang="en-US"/>
          </a:p>
          <a:p>
            <a:r>
              <a:rPr lang="zh-CN" altLang="en-US"/>
              <a:t>面孔识别：右半球颞叶的梭状回面孔区专门负责识别面孔，损伤可能导致 “面孔失认症”（无法认出熟人）。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枕叶（</a:t>
            </a:r>
            <a:r>
              <a:rPr lang="en-US" altLang="zh-CN"/>
              <a:t>Occipital Lobe</a:t>
            </a:r>
            <a:r>
              <a:rPr lang="zh-CN" altLang="en-US"/>
              <a:t>）：视觉信息处理</a:t>
            </a:r>
            <a:endParaRPr lang="zh-CN" altLang="en-US"/>
          </a:p>
          <a:p>
            <a:r>
              <a:rPr lang="zh-CN" altLang="en-US"/>
              <a:t>视觉接收与解析：初级视觉皮层接收来自视网膜的信息，处理颜色、形状、运动等基本视觉特征。</a:t>
            </a:r>
            <a:endParaRPr lang="zh-CN" altLang="en-US"/>
          </a:p>
          <a:p>
            <a:r>
              <a:rPr lang="zh-CN" altLang="en-US"/>
              <a:t>视觉整合：通过次级视觉皮层（如 </a:t>
            </a:r>
            <a:r>
              <a:rPr lang="en-US" altLang="zh-CN"/>
              <a:t>V2</a:t>
            </a:r>
            <a:r>
              <a:rPr lang="zh-CN" altLang="en-US"/>
              <a:t>、</a:t>
            </a:r>
            <a:r>
              <a:rPr lang="en-US" altLang="zh-CN"/>
              <a:t>V4 </a:t>
            </a:r>
            <a:r>
              <a:rPr lang="zh-CN" altLang="en-US"/>
              <a:t>区）整合信息，形成完整的视觉感知（如识别物体、阅读文字）。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823932"/>
            <a:ext cx="12192000" cy="32484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58939"/>
            <a:ext cx="1118662" cy="1118662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012730" y="2419778"/>
            <a:ext cx="9031733" cy="1632736"/>
          </a:xfrm>
        </p:spPr>
        <p:txBody>
          <a:bodyPr anchor="ctr">
            <a:noAutofit/>
          </a:bodyPr>
          <a:lstStyle>
            <a:lvl1pPr>
              <a:lnSpc>
                <a:spcPct val="150000"/>
              </a:lnSpc>
              <a:defRPr sz="4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58939"/>
            <a:ext cx="1118662" cy="1118662"/>
          </a:xfrm>
          <a:prstGeom prst="rect">
            <a:avLst/>
          </a:prstGeom>
        </p:spPr>
      </p:pic>
      <p:cxnSp>
        <p:nvCxnSpPr>
          <p:cNvPr id="10" name="ïṧ1íḓé"/>
          <p:cNvCxnSpPr/>
          <p:nvPr/>
        </p:nvCxnSpPr>
        <p:spPr>
          <a:xfrm>
            <a:off x="3890552" y="1482417"/>
            <a:ext cx="0" cy="4003616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îṧḷîďé"/>
          <p:cNvSpPr txBox="1"/>
          <p:nvPr/>
        </p:nvSpPr>
        <p:spPr>
          <a:xfrm>
            <a:off x="944584" y="1404013"/>
            <a:ext cx="26230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>
                <a:solidFill>
                  <a:srgbClr val="FF6900"/>
                </a:solidFill>
                <a:cs typeface="+mn-ea"/>
                <a:sym typeface="+mn-lt"/>
              </a:rPr>
              <a:t>目    录</a:t>
            </a:r>
            <a:endParaRPr lang="zh-CN" altLang="en-US" sz="2800" b="1" dirty="0">
              <a:solidFill>
                <a:srgbClr val="FF6900"/>
              </a:solidFill>
              <a:cs typeface="+mn-ea"/>
              <a:sym typeface="+mn-lt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346877" y="1482416"/>
            <a:ext cx="3680592" cy="4002215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400" baseline="0">
                <a:latin typeface="+mn-ea"/>
                <a:ea typeface="+mn-ea"/>
              </a:defRPr>
            </a:lvl1pPr>
          </a:lstStyle>
          <a:p>
            <a:r>
              <a:rPr lang="en-US" altLang="zh-CN" dirty="0"/>
              <a:t>1. XXX</a:t>
            </a:r>
            <a:br>
              <a:rPr lang="en-US" altLang="zh-CN" dirty="0"/>
            </a:br>
            <a:r>
              <a:rPr lang="en-US" altLang="zh-CN" dirty="0"/>
              <a:t>2. XXX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FF6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73479"/>
            <a:ext cx="1104121" cy="110412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6010" y="2862262"/>
            <a:ext cx="7954798" cy="1133475"/>
          </a:xfrm>
        </p:spPr>
        <p:txBody>
          <a:bodyPr anchor="ctr">
            <a:noAutofit/>
          </a:bodyPr>
          <a:lstStyle>
            <a:lvl1pPr>
              <a:defRPr sz="4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12275" y="4126680"/>
            <a:ext cx="5677105" cy="9657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2379830" y="1754266"/>
            <a:ext cx="1733167" cy="1107996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6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lnSpc>
                <a:spcPct val="100000"/>
              </a:lnSpc>
              <a:buFontTx/>
              <a:buNone/>
              <a:defRPr/>
            </a:lvl2pPr>
            <a:lvl3pPr marL="914400" indent="0">
              <a:lnSpc>
                <a:spcPct val="100000"/>
              </a:lnSpc>
              <a:buFontTx/>
              <a:buNone/>
              <a:defRPr/>
            </a:lvl3pPr>
            <a:lvl4pPr marL="1371600" indent="0">
              <a:lnSpc>
                <a:spcPct val="100000"/>
              </a:lnSpc>
              <a:buFontTx/>
              <a:buNone/>
              <a:defRPr/>
            </a:lvl4pPr>
            <a:lvl5pPr marL="1828800" indent="0">
              <a:lnSpc>
                <a:spcPct val="100000"/>
              </a:lnSpc>
              <a:buFontTx/>
              <a:buNone/>
              <a:defRPr/>
            </a:lvl5pPr>
          </a:lstStyle>
          <a:p>
            <a:pPr lvl="0"/>
            <a:r>
              <a:rPr lang="en-GB" altLang="zh-CN" dirty="0"/>
              <a:t>01 </a:t>
            </a:r>
            <a:r>
              <a:rPr lang="en-US" altLang="zh-CN" dirty="0"/>
              <a:t> 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44899" y="211756"/>
            <a:ext cx="10858500" cy="818148"/>
          </a:xfrm>
        </p:spPr>
        <p:txBody>
          <a:bodyPr anchor="ctr"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请在此输入标题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58939"/>
            <a:ext cx="1118662" cy="111866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" y="6745857"/>
            <a:ext cx="12192000" cy="112143"/>
          </a:xfrm>
          <a:prstGeom prst="rect">
            <a:avLst/>
          </a:prstGeom>
          <a:solidFill>
            <a:srgbClr val="EF7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3"/>
          <p:cNvSpPr/>
          <p:nvPr userDrawn="1"/>
        </p:nvSpPr>
        <p:spPr>
          <a:xfrm flipH="1">
            <a:off x="629742" y="6748462"/>
            <a:ext cx="4692755" cy="109538"/>
          </a:xfrm>
          <a:custGeom>
            <a:avLst/>
            <a:gdLst>
              <a:gd name="connsiteX0" fmla="*/ 0 w 6783916"/>
              <a:gd name="connsiteY0" fmla="*/ 6858000 h 6858000"/>
              <a:gd name="connsiteX1" fmla="*/ 2886624 w 6783916"/>
              <a:gd name="connsiteY1" fmla="*/ 0 h 6858000"/>
              <a:gd name="connsiteX2" fmla="*/ 6783916 w 6783916"/>
              <a:gd name="connsiteY2" fmla="*/ 0 h 6858000"/>
              <a:gd name="connsiteX3" fmla="*/ 3897292 w 6783916"/>
              <a:gd name="connsiteY3" fmla="*/ 6858000 h 6858000"/>
              <a:gd name="connsiteX4" fmla="*/ 0 w 6783916"/>
              <a:gd name="connsiteY4" fmla="*/ 6858000 h 6858000"/>
              <a:gd name="connsiteX0-1" fmla="*/ 0 w 6240991"/>
              <a:gd name="connsiteY0-2" fmla="*/ 6858000 h 6858000"/>
              <a:gd name="connsiteX1-3" fmla="*/ 2886624 w 6240991"/>
              <a:gd name="connsiteY1-4" fmla="*/ 0 h 6858000"/>
              <a:gd name="connsiteX2-5" fmla="*/ 6240991 w 6240991"/>
              <a:gd name="connsiteY2-6" fmla="*/ 9525 h 6858000"/>
              <a:gd name="connsiteX3-7" fmla="*/ 3897292 w 6240991"/>
              <a:gd name="connsiteY3-8" fmla="*/ 6858000 h 6858000"/>
              <a:gd name="connsiteX4-9" fmla="*/ 0 w 6240991"/>
              <a:gd name="connsiteY4-10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240991" h="6858000">
                <a:moveTo>
                  <a:pt x="0" y="6858000"/>
                </a:moveTo>
                <a:lnTo>
                  <a:pt x="2886624" y="0"/>
                </a:lnTo>
                <a:lnTo>
                  <a:pt x="6240991" y="9525"/>
                </a:lnTo>
                <a:lnTo>
                  <a:pt x="38972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16" name="平行四边形 13"/>
          <p:cNvSpPr/>
          <p:nvPr userDrawn="1"/>
        </p:nvSpPr>
        <p:spPr>
          <a:xfrm flipH="1">
            <a:off x="6790268" y="6746604"/>
            <a:ext cx="4692755" cy="109538"/>
          </a:xfrm>
          <a:custGeom>
            <a:avLst/>
            <a:gdLst>
              <a:gd name="connsiteX0" fmla="*/ 0 w 6783916"/>
              <a:gd name="connsiteY0" fmla="*/ 6858000 h 6858000"/>
              <a:gd name="connsiteX1" fmla="*/ 2886624 w 6783916"/>
              <a:gd name="connsiteY1" fmla="*/ 0 h 6858000"/>
              <a:gd name="connsiteX2" fmla="*/ 6783916 w 6783916"/>
              <a:gd name="connsiteY2" fmla="*/ 0 h 6858000"/>
              <a:gd name="connsiteX3" fmla="*/ 3897292 w 6783916"/>
              <a:gd name="connsiteY3" fmla="*/ 6858000 h 6858000"/>
              <a:gd name="connsiteX4" fmla="*/ 0 w 6783916"/>
              <a:gd name="connsiteY4" fmla="*/ 6858000 h 6858000"/>
              <a:gd name="connsiteX0-1" fmla="*/ 0 w 6240991"/>
              <a:gd name="connsiteY0-2" fmla="*/ 6858000 h 6858000"/>
              <a:gd name="connsiteX1-3" fmla="*/ 2886624 w 6240991"/>
              <a:gd name="connsiteY1-4" fmla="*/ 0 h 6858000"/>
              <a:gd name="connsiteX2-5" fmla="*/ 6240991 w 6240991"/>
              <a:gd name="connsiteY2-6" fmla="*/ 9525 h 6858000"/>
              <a:gd name="connsiteX3-7" fmla="*/ 3897292 w 6240991"/>
              <a:gd name="connsiteY3-8" fmla="*/ 6858000 h 6858000"/>
              <a:gd name="connsiteX4-9" fmla="*/ 0 w 6240991"/>
              <a:gd name="connsiteY4-10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240991" h="6858000">
                <a:moveTo>
                  <a:pt x="0" y="6858000"/>
                </a:moveTo>
                <a:lnTo>
                  <a:pt x="2886624" y="0"/>
                </a:lnTo>
                <a:lnTo>
                  <a:pt x="6240991" y="9525"/>
                </a:lnTo>
                <a:lnTo>
                  <a:pt x="38972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44899" y="1020478"/>
            <a:ext cx="108532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 flipV="1">
            <a:off x="0" y="715991"/>
            <a:ext cx="560717" cy="0"/>
          </a:xfrm>
          <a:prstGeom prst="line">
            <a:avLst/>
          </a:prstGeom>
          <a:ln>
            <a:headEnd type="none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任意多边形: 形状 6"/>
          <p:cNvSpPr/>
          <p:nvPr userDrawn="1"/>
        </p:nvSpPr>
        <p:spPr>
          <a:xfrm>
            <a:off x="723915" y="552929"/>
            <a:ext cx="863346" cy="326123"/>
          </a:xfrm>
          <a:custGeom>
            <a:avLst/>
            <a:gdLst>
              <a:gd name="connsiteX0" fmla="*/ 0 w 904875"/>
              <a:gd name="connsiteY0" fmla="*/ 0 h 300038"/>
              <a:gd name="connsiteX1" fmla="*/ 604837 w 904875"/>
              <a:gd name="connsiteY1" fmla="*/ 0 h 300038"/>
              <a:gd name="connsiteX2" fmla="*/ 904875 w 904875"/>
              <a:gd name="connsiteY2" fmla="*/ 300038 h 300038"/>
              <a:gd name="connsiteX3" fmla="*/ 4762 w 904875"/>
              <a:gd name="connsiteY3" fmla="*/ 300038 h 300038"/>
              <a:gd name="connsiteX4" fmla="*/ 0 w 904875"/>
              <a:gd name="connsiteY4" fmla="*/ 0 h 30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875" h="300038">
                <a:moveTo>
                  <a:pt x="0" y="0"/>
                </a:moveTo>
                <a:lnTo>
                  <a:pt x="604837" y="0"/>
                </a:lnTo>
                <a:lnTo>
                  <a:pt x="904875" y="300038"/>
                </a:lnTo>
                <a:lnTo>
                  <a:pt x="4762" y="300038"/>
                </a:lnTo>
                <a:cubicBezTo>
                  <a:pt x="3175" y="200025"/>
                  <a:pt x="1587" y="100013"/>
                  <a:pt x="0" y="0"/>
                </a:cubicBezTo>
                <a:close/>
              </a:path>
            </a:pathLst>
          </a:custGeom>
          <a:solidFill>
            <a:srgbClr val="EF7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defTabSz="2438400" eaLnBrk="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400" kern="1200" dirty="0">
              <a:solidFill>
                <a:schemeClr val="tx1"/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1587260" y="306916"/>
            <a:ext cx="7151297" cy="818148"/>
          </a:xfrm>
        </p:spPr>
        <p:txBody>
          <a:bodyPr anchor="ctr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请在此输入标题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338" y="-143416"/>
            <a:ext cx="1118662" cy="1118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58939"/>
            <a:ext cx="1118662" cy="1118662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44899" y="192506"/>
            <a:ext cx="10858500" cy="818148"/>
          </a:xfrm>
        </p:spPr>
        <p:txBody>
          <a:bodyPr anchor="ctr"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请在此输入标题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58939"/>
            <a:ext cx="1118662" cy="1118662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544899" y="192506"/>
            <a:ext cx="10858500" cy="818148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请在此输入标题</a:t>
            </a:r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44899" y="1010654"/>
            <a:ext cx="10858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6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ṧ1îḋé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2065342"/>
            <a:ext cx="10858500" cy="231933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感  谢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463" y="73479"/>
            <a:ext cx="1104121" cy="11041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image1.png" descr="ima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77180" y="251619"/>
            <a:ext cx="462058" cy="4620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43" name="白底.png" descr="白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21" y="224365"/>
            <a:ext cx="519114" cy="51911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521663" y="6457130"/>
            <a:ext cx="344587" cy="347948"/>
          </a:xfrm>
          <a:prstGeom prst="rect">
            <a:avLst/>
          </a:prstGeom>
        </p:spPr>
        <p:txBody>
          <a:bodyPr lIns="182847" tIns="182847" rIns="182847" bIns="182847" anchor="ctr"/>
          <a:lstStyle>
            <a:lvl1pPr algn="l" defTabSz="457200">
              <a:defRPr b="1">
                <a:solidFill>
                  <a:srgbClr val="ED7D3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04730" y="2318178"/>
            <a:ext cx="9031733" cy="1632736"/>
          </a:xfrm>
        </p:spPr>
        <p:txBody>
          <a:bodyPr/>
          <a:lstStyle/>
          <a:p>
            <a:pPr algn="ctr"/>
            <a:r>
              <a:rPr lang="en-US" altLang="zh-CN" dirty="0"/>
              <a:t>AIOS </a:t>
            </a:r>
            <a:r>
              <a:rPr lang="zh-CN" altLang="en-US" dirty="0"/>
              <a:t>架构设计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615795" y="5377295"/>
            <a:ext cx="3169227" cy="138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软件部-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技术部-工程部-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框架组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charset="0"/>
                <a:ea typeface="微软雅黑" charset="0"/>
              </a:rPr>
              <a:t>樊航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为什么需要</a:t>
            </a:r>
            <a:r>
              <a:rPr lang="en-US" altLang="zh-CN"/>
              <a:t>AIOS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521627" y="1269341"/>
            <a:ext cx="1846314" cy="362669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rgbClr val="000000"/>
                </a:solidFill>
                <a:latin typeface="微软雅黑" charset="0"/>
                <a:ea typeface="微软雅黑" charset="0"/>
              </a:rPr>
              <a:t>Agent</a:t>
            </a:r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</a:rPr>
              <a:t>时代需求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27364" y="2329295"/>
            <a:ext cx="519545" cy="3160568"/>
          </a:xfrm>
          <a:prstGeom prst="rect">
            <a:avLst/>
          </a:prstGeom>
        </p:spPr>
        <p:txBody>
          <a:bodyPr wrap="square"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传统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实现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AI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功能</a:t>
            </a:r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8" name="图片 17" descr="upload_096203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955" y="1194955"/>
            <a:ext cx="4129478" cy="5440031"/>
          </a:xfrm>
          <a:prstGeom prst="rect">
            <a:avLst/>
          </a:prstGeom>
        </p:spPr>
      </p:pic>
      <p:pic>
        <p:nvPicPr>
          <p:cNvPr id="21" name="图片 20" descr="upload_4847033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92" y="2571651"/>
            <a:ext cx="3140382" cy="2687046"/>
          </a:xfrm>
          <a:prstGeom prst="rect">
            <a:avLst/>
          </a:prstGeom>
        </p:spPr>
      </p:pic>
      <p:cxnSp>
        <p:nvCxnSpPr>
          <p:cNvPr id="22" name="直接连接符 21"/>
          <p:cNvCxnSpPr/>
          <p:nvPr userDrawn="1"/>
        </p:nvCxnSpPr>
        <p:spPr>
          <a:xfrm flipH="1">
            <a:off x="5320663" y="1502416"/>
            <a:ext cx="16484" cy="4813603"/>
          </a:xfrm>
          <a:prstGeom prst="line">
            <a:avLst/>
          </a:prstGeom>
          <a:ln w="63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upload_671945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191" y="2060618"/>
            <a:ext cx="3395898" cy="3709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435" y="216477"/>
            <a:ext cx="3321716" cy="816005"/>
          </a:xfrm>
        </p:spPr>
        <p:txBody>
          <a:bodyPr/>
          <a:p>
            <a:r>
              <a:rPr lang="en-US" altLang="zh-CN"/>
              <a:t>AIOS</a:t>
            </a:r>
            <a:r>
              <a:rPr lang="zh-CN" altLang="en-US"/>
              <a:t>架构要做什么 </a:t>
            </a:r>
            <a:endParaRPr lang="zh-CN" altLang="en-US"/>
          </a:p>
        </p:txBody>
      </p:sp>
      <p:pic>
        <p:nvPicPr>
          <p:cNvPr id="3" name="图片 2" descr="upload_6608224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95" y="1030309"/>
            <a:ext cx="9932178" cy="5629608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3865719" y="214304"/>
            <a:ext cx="7640771" cy="75006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sz="1400" b="1">
                <a:solidFill>
                  <a:srgbClr val="767171"/>
                </a:solidFill>
              </a:rPr>
              <a:t>Agent</a:t>
            </a:r>
            <a:r>
              <a:rPr sz="1400" b="0">
                <a:solidFill>
                  <a:srgbClr val="767171"/>
                </a:solidFill>
              </a:rPr>
              <a:t> </a:t>
            </a:r>
            <a:r>
              <a:rPr sz="1400" b="1">
                <a:solidFill>
                  <a:srgbClr val="767171"/>
                </a:solidFill>
              </a:rPr>
              <a:t>框架</a:t>
            </a:r>
            <a:r>
              <a:rPr sz="1400" b="0">
                <a:solidFill>
                  <a:srgbClr val="767171"/>
                </a:solidFill>
              </a:rPr>
              <a:t>：实现 Agent 服务的</a:t>
            </a:r>
            <a:r>
              <a:rPr lang="zh-CN" altLang="en-US" sz="1400" b="0">
                <a:solidFill>
                  <a:srgbClr val="767171"/>
                </a:solidFill>
              </a:rPr>
              <a:t>低成本定制化</a:t>
            </a:r>
            <a:r>
              <a:rPr sz="1400" b="0">
                <a:solidFill>
                  <a:srgbClr val="767171"/>
                </a:solidFill>
              </a:rPr>
              <a:t>开发、发布管理、运行</a:t>
            </a:r>
            <a:r>
              <a:rPr lang="zh-CN" altLang="en-US" sz="1400" b="0">
                <a:solidFill>
                  <a:srgbClr val="767171"/>
                </a:solidFill>
              </a:rPr>
              <a:t>调度框架</a:t>
            </a:r>
            <a:endParaRPr sz="1400" b="0">
              <a:solidFill>
                <a:srgbClr val="767171"/>
              </a:solidFill>
            </a:endParaRPr>
          </a:p>
          <a:p>
            <a:r>
              <a:rPr sz="1400" b="1" u="none">
                <a:solidFill>
                  <a:srgbClr val="767171"/>
                </a:solidFill>
              </a:rPr>
              <a:t>算力与数据</a:t>
            </a:r>
            <a:r>
              <a:rPr sz="1400" b="0" u="none">
                <a:solidFill>
                  <a:srgbClr val="767171"/>
                </a:solidFill>
              </a:rPr>
              <a:t>：</a:t>
            </a:r>
            <a:r>
              <a:rPr lang="zh-CN" altLang="en-US" sz="1400" b="0" u="none">
                <a:solidFill>
                  <a:srgbClr val="767171"/>
                </a:solidFill>
              </a:rPr>
              <a:t>实现</a:t>
            </a:r>
            <a:r>
              <a:rPr sz="1400" b="0" u="none">
                <a:solidFill>
                  <a:srgbClr val="767171"/>
                </a:solidFill>
              </a:rPr>
              <a:t>跨端感知记忆协同、端云</a:t>
            </a:r>
            <a:r>
              <a:rPr lang="zh-CN" altLang="en-US" sz="1400" b="0" u="none">
                <a:solidFill>
                  <a:srgbClr val="767171"/>
                </a:solidFill>
              </a:rPr>
              <a:t>多模态</a:t>
            </a:r>
            <a:r>
              <a:rPr sz="1400" b="0" u="none">
                <a:solidFill>
                  <a:srgbClr val="767171"/>
                </a:solidFill>
              </a:rPr>
              <a:t>模型</a:t>
            </a:r>
            <a:r>
              <a:rPr sz="1400">
                <a:solidFill>
                  <a:srgbClr val="767171"/>
                </a:solidFill>
                <a:sym typeface="+mn-ea"/>
              </a:rPr>
              <a:t>协同</a:t>
            </a:r>
            <a:r>
              <a:rPr sz="1400" b="0" u="none">
                <a:solidFill>
                  <a:srgbClr val="767171"/>
                </a:solidFill>
              </a:rPr>
              <a:t>、数据收集与分析</a:t>
            </a:r>
            <a:r>
              <a:rPr lang="zh-CN" altLang="en-US" sz="1400" b="0" u="none">
                <a:solidFill>
                  <a:srgbClr val="767171"/>
                </a:solidFill>
              </a:rPr>
              <a:t>框架</a:t>
            </a:r>
            <a:endParaRPr lang="zh-CN" altLang="en-US" sz="1400">
              <a:solidFill>
                <a:srgbClr val="767171"/>
              </a:solidFill>
            </a:endParaRP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3815379" y="314325"/>
            <a:ext cx="1" cy="561980"/>
          </a:xfrm>
          <a:prstGeom prst="line">
            <a:avLst/>
          </a:prstGeom>
          <a:ln w="2540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0000"/>
                </a:solidFill>
              </a:rPr>
              <a:t>AI</a:t>
            </a:r>
            <a:r>
              <a:rPr lang="zh-CN" altLang="en-US">
                <a:solidFill>
                  <a:srgbClr val="000000"/>
                </a:solidFill>
              </a:rPr>
              <a:t>能力中心 - 架构设计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94988" y="2110102"/>
            <a:ext cx="4462866" cy="399864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b="1" u="none"/>
              <a:t>Dev</a:t>
            </a:r>
            <a:r>
              <a:rPr b="0" u="none"/>
              <a:t> </a:t>
            </a:r>
            <a:r>
              <a:rPr b="1" u="none"/>
              <a:t>Tool</a:t>
            </a:r>
            <a:r>
              <a:rPr b="0" u="none"/>
              <a:t>：开发工具，模型部署、插件开发、API 开发和发布等；</a:t>
            </a:r>
            <a:r>
              <a:rPr b="1" u="none"/>
              <a:t>SDK</a:t>
            </a:r>
            <a:r>
              <a:rPr b="0" u="none"/>
              <a:t>：跨进程通信，包含查询、下载、运行等；</a:t>
            </a:r>
            <a:r>
              <a:rPr b="1" u="none"/>
              <a:t>Service</a:t>
            </a:r>
            <a:r>
              <a:rPr b="0" u="none"/>
              <a:t>：子系统服务，提供模型管理、进度管理、埋点管理等功能；</a:t>
            </a:r>
            <a:r>
              <a:rPr b="1" u="none"/>
              <a:t>RuntimeCore</a:t>
            </a:r>
            <a:r>
              <a:rPr b="0" u="none"/>
              <a:t>：运行时核心库，树型插件加载与声明周期管理；</a:t>
            </a:r>
            <a:r>
              <a:rPr b="1" u="none"/>
              <a:t></a:t>
            </a:r>
            <a:r>
              <a:rPr lang="en-US" altLang="zh-CN" b="1" u="none"/>
              <a:t>Nova</a:t>
            </a:r>
            <a:r>
              <a:rPr b="0" u="none"/>
              <a:t>：优化的端侧推理框架，平台库解耦和大模型加速等；</a:t>
            </a:r>
            <a:r>
              <a:rPr b="1" u="none"/>
              <a:t>Transparent Sandbox</a:t>
            </a:r>
            <a:r>
              <a:rPr b="0" u="none"/>
              <a:t>：系统存储共享，实现分布式进程运行；</a:t>
            </a:r>
            <a:r>
              <a:rPr b="1" u="none"/>
              <a:t>Cloud Platform</a:t>
            </a:r>
            <a:r>
              <a:rPr b="0" u="none"/>
              <a:t>：云端 AI 平台，算法管理、编排、部署和监控等。</a:t>
            </a:r>
            <a:endParaRPr lang="zh-CN" altLang="en-US"/>
          </a:p>
        </p:txBody>
      </p:sp>
      <p:pic>
        <p:nvPicPr>
          <p:cNvPr id="7" name="Picture 6" descr="upload_8945938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26" y="2110102"/>
            <a:ext cx="6119296" cy="3988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0000"/>
                </a:solidFill>
              </a:rPr>
              <a:t>AI</a:t>
            </a:r>
            <a:r>
              <a:rPr lang="zh-CN" altLang="en-US">
                <a:solidFill>
                  <a:srgbClr val="000000"/>
                </a:solidFill>
              </a:rPr>
              <a:t>能力中心 - 开发流程</a:t>
            </a: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4" name="Picture 3" descr="upload_3441450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576" y="1297713"/>
            <a:ext cx="8767473" cy="1793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571" y="3270658"/>
            <a:ext cx="11320697" cy="32495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b="1" u="none"/>
              <a:t>开发</a:t>
            </a:r>
            <a:r>
              <a:rPr b="0" u="none"/>
              <a:t>：算法方基于开发套件对算法做二次部署开发生成插件、模型和配置，并基于SDK 开发配套的 API；</a:t>
            </a:r>
            <a:r>
              <a:rPr b="1" u="none"/>
              <a:t>上传</a:t>
            </a:r>
            <a:r>
              <a:rPr b="0" u="none"/>
              <a:t>：算法方在算法空间上传插件、模型等物料版本，由平台对插件做解压提取，实际的资源包含插件、动态链接库和模型；</a:t>
            </a:r>
            <a:r>
              <a:rPr b="1" u="none"/>
              <a:t>编排</a:t>
            </a:r>
            <a:r>
              <a:rPr b="0" u="none"/>
              <a:t>：算法方根据新版本特性对资源重新编排生成新的能力；</a:t>
            </a:r>
            <a:r>
              <a:rPr b="1" u="none"/>
              <a:t>部署</a:t>
            </a:r>
            <a:r>
              <a:rPr b="0" u="none"/>
              <a:t>：算法方选择新编排的能力并重新设置其在端侧设备的生效范围（即条件部署），如国家、地区、机型、版本、RAM、ROM等。部署包含云端市场部署和项目集成部署：</a:t>
            </a:r>
            <a:r>
              <a:rPr b="1" u="none"/>
              <a:t>	云端市场部署</a:t>
            </a:r>
            <a:r>
              <a:rPr b="0" u="none"/>
              <a:t>：将配置发布到云服务器，等待设备端的子系统服务更新；</a:t>
            </a:r>
            <a:r>
              <a:rPr b="1" u="none"/>
              <a:t>	项目集成部署</a:t>
            </a:r>
            <a:r>
              <a:rPr b="0" u="none"/>
              <a:t>：将配置和相关资源发布到 ROM 组件，随整机 OTA 编译集成发布，无需更新。</a:t>
            </a:r>
            <a:r>
              <a:rPr b="1" u="none"/>
              <a:t>测试</a:t>
            </a:r>
            <a:r>
              <a:rPr b="0" u="none"/>
              <a:t>：部署需要经过业务测试后才能发布；</a:t>
            </a:r>
            <a:r>
              <a:rPr b="1" u="none"/>
              <a:t>审批</a:t>
            </a:r>
            <a:r>
              <a:rPr b="0" u="none"/>
              <a:t>：审批环节需要算法、业务和平台执行审批；</a:t>
            </a:r>
            <a:r>
              <a:rPr b="1" u="none"/>
              <a:t>发布</a:t>
            </a:r>
            <a:r>
              <a:rPr b="0" u="none"/>
              <a:t>：包含灰度发布和全量发布。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感知框架</a:t>
            </a:r>
            <a:endParaRPr lang="zh-CN" altLang="en-US"/>
          </a:p>
        </p:txBody>
      </p:sp>
      <p:pic>
        <p:nvPicPr>
          <p:cNvPr id="9" name="图片 8" descr="upload_5191523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27" y="1463386"/>
            <a:ext cx="5870864" cy="4537364"/>
          </a:xfrm>
          <a:prstGeom prst="rect">
            <a:avLst/>
          </a:prstGeom>
        </p:spPr>
      </p:pic>
      <p:pic>
        <p:nvPicPr>
          <p:cNvPr id="10" name="图片 9" descr="upload_074848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614" y="1645227"/>
            <a:ext cx="6182591" cy="2251364"/>
          </a:xfrm>
          <a:prstGeom prst="rect">
            <a:avLst/>
          </a:prstGeom>
        </p:spPr>
      </p:pic>
      <p:pic>
        <p:nvPicPr>
          <p:cNvPr id="12" name="图片 11" descr="upload_5546743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614" y="4173682"/>
            <a:ext cx="5515841" cy="1601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感知框架怎么做</a:t>
            </a:r>
            <a:endParaRPr lang="zh-CN" altLang="en-US"/>
          </a:p>
        </p:txBody>
      </p:sp>
      <p:pic>
        <p:nvPicPr>
          <p:cNvPr id="5" name="图片 4" descr="upload_423096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91" y="207818"/>
            <a:ext cx="4727864" cy="813955"/>
          </a:xfrm>
        </p:spPr>
        <p:txBody>
          <a:bodyPr/>
          <a:p>
            <a:r>
              <a:rPr lang="zh-CN" altLang="en-US"/>
              <a:t>记忆框架怎么做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4372" y="1300113"/>
            <a:ext cx="73152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0">
                <a:ea typeface="Inter" charset="0"/>
              </a:rPr>
              <a:t>Agent</a:t>
            </a:r>
            <a:r>
              <a:rPr lang="zh-CN" altLang="en-US" sz="1600" b="0">
                <a:ea typeface="Inter" charset="0"/>
              </a:rPr>
              <a:t>对记忆的要求：短时</a:t>
            </a:r>
            <a:r>
              <a:rPr lang="zh-CN" sz="1600" b="0">
                <a:ea typeface="Inter" charset="0"/>
              </a:rPr>
              <a:t>记忆 - 长期存储 - 高效检索 - 动态更新</a:t>
            </a:r>
            <a:endParaRPr lang="zh-CN" altLang="en-US" sz="1600"/>
          </a:p>
        </p:txBody>
      </p:sp>
      <p:pic>
        <p:nvPicPr>
          <p:cNvPr id="4" name="图片 3" descr="upload_3479836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795" y="1775114"/>
            <a:ext cx="7689273" cy="480579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688417" y="1353051"/>
            <a:ext cx="2597727" cy="337185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 sz="1600"/>
              <a:t>挑战</a:t>
            </a:r>
            <a:endParaRPr lang="zh-CN" altLang="en-US" sz="160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382000" y="2311977"/>
            <a:ext cx="3203864" cy="3732068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Char char="•"/>
            </a:pPr>
            <a:r>
              <a:rPr lang="zh-CN" altLang="en-US" sz="1600" b="1"/>
              <a:t>能耗限制</a:t>
            </a:r>
            <a:r>
              <a:rPr lang="zh-CN" altLang="en-US" sz="1600"/>
              <a:t>：优先规则+轻量模型+负载调度。</a:t>
            </a:r>
            <a:endParaRPr lang="zh-CN" altLang="en-US" sz="1600"/>
          </a:p>
          <a:p>
            <a:pPr marL="285750" indent="-285750">
              <a:buChar char="•"/>
            </a:pPr>
            <a:endParaRPr lang="zh-CN" altLang="en-US" sz="1600"/>
          </a:p>
          <a:p>
            <a:pPr marL="285750" indent="-285750">
              <a:buChar char="•"/>
            </a:pPr>
            <a:r>
              <a:rPr lang="zh-CN" altLang="en-US" sz="1600" b="1"/>
              <a:t>存储资源紧张</a:t>
            </a:r>
            <a:r>
              <a:rPr lang="zh-CN" altLang="en-US" sz="1600"/>
              <a:t>：压缩+分层存储+遗忘更新策略。</a:t>
            </a:r>
            <a:endParaRPr lang="zh-CN" altLang="en-US" sz="1600"/>
          </a:p>
          <a:p>
            <a:pPr marL="285750" indent="-285750">
              <a:buChar char="•"/>
            </a:pPr>
            <a:endParaRPr lang="zh-CN" altLang="en-US" sz="1600"/>
          </a:p>
          <a:p>
            <a:pPr marL="285750" indent="-285750">
              <a:buChar char="•"/>
            </a:pPr>
            <a:r>
              <a:rPr lang="zh-CN" altLang="en-US" sz="1600" b="1"/>
              <a:t>安全隐私</a:t>
            </a:r>
            <a:r>
              <a:rPr lang="zh-CN" altLang="en-US" sz="1600"/>
              <a:t>：本地处理+硬件级加密。</a:t>
            </a:r>
            <a:endParaRPr lang="zh-CN" altLang="en-US" sz="1600"/>
          </a:p>
          <a:p>
            <a:pPr marL="285750" indent="-285750">
              <a:buChar char="•"/>
            </a:pPr>
            <a:endParaRPr lang="zh-CN" altLang="en-US" sz="1600"/>
          </a:p>
          <a:p>
            <a:pPr marL="285750" indent="-285750">
              <a:buChar char="•"/>
            </a:pPr>
            <a:r>
              <a:rPr lang="zh-CN" altLang="en-US" sz="1600" b="1"/>
              <a:t>跨平台适配</a:t>
            </a:r>
            <a:r>
              <a:rPr lang="zh-CN" altLang="en-US" sz="1600"/>
              <a:t>：数据结构对齐。</a:t>
            </a:r>
            <a:endParaRPr lang="zh-CN" altLang="en-US" sz="1600"/>
          </a:p>
          <a:p>
            <a:pPr marL="285750" indent="-285750">
              <a:buChar char="•"/>
            </a:pPr>
            <a:endParaRPr lang="zh-CN" altLang="en-US" sz="1600"/>
          </a:p>
          <a:p>
            <a:pPr marL="285750" indent="-285750">
              <a:buChar char="•"/>
            </a:pPr>
            <a:r>
              <a:rPr lang="zh-CN" altLang="en-US" sz="1600" b="1"/>
              <a:t>检索速度</a:t>
            </a:r>
            <a:r>
              <a:rPr lang="zh-CN" altLang="en-US" sz="1600"/>
              <a:t>：选择适合的高速数据库。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记忆</a:t>
            </a:r>
            <a:endParaRPr lang="zh-CN" altLang="en-US"/>
          </a:p>
        </p:txBody>
      </p:sp>
      <p:pic>
        <p:nvPicPr>
          <p:cNvPr id="3" name="图片 2" descr="upload_1657066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932" y="1281545"/>
            <a:ext cx="2320636" cy="5169477"/>
          </a:xfrm>
          <a:prstGeom prst="rect">
            <a:avLst/>
          </a:prstGeom>
        </p:spPr>
      </p:pic>
      <p:pic>
        <p:nvPicPr>
          <p:cNvPr id="4" name="图片 3" descr="upload_0888200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23" y="1255568"/>
            <a:ext cx="2346614" cy="5230091"/>
          </a:xfrm>
          <a:prstGeom prst="rect">
            <a:avLst/>
          </a:prstGeom>
        </p:spPr>
      </p:pic>
      <p:pic>
        <p:nvPicPr>
          <p:cNvPr id="5" name="图片 4" descr="upload_7121856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773" y="1255568"/>
            <a:ext cx="2355273" cy="5230091"/>
          </a:xfrm>
          <a:prstGeom prst="rect">
            <a:avLst/>
          </a:prstGeom>
        </p:spPr>
      </p:pic>
      <p:pic>
        <p:nvPicPr>
          <p:cNvPr id="6" name="图片 5" descr="upload_9851355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705" y="1281545"/>
            <a:ext cx="2329295" cy="5178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Agent</a:t>
            </a:r>
            <a:r>
              <a:rPr lang="zh-CN" altLang="en-US">
                <a:sym typeface="+mn-ea"/>
              </a:rPr>
              <a:t>框架</a:t>
            </a:r>
            <a:endParaRPr lang="zh-CN" altLang="en-US">
              <a:sym typeface="+mn-ea"/>
            </a:endParaRPr>
          </a:p>
        </p:txBody>
      </p:sp>
      <p:pic>
        <p:nvPicPr>
          <p:cNvPr id="14" name="图片 13" descr="upload_6774973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341" y="1168977"/>
            <a:ext cx="7386205" cy="5264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upload_923757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909" y="3905250"/>
            <a:ext cx="1913659" cy="27276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Agent</a:t>
            </a:r>
            <a:r>
              <a:rPr lang="zh-CN" altLang="en-US"/>
              <a:t>框架要做什么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232940" y="1257801"/>
            <a:ext cx="276225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pPr marL="285750" indent="-285750">
              <a:buChar char="•"/>
            </a:pPr>
            <a:r>
              <a:rPr lang="en-US" altLang="zh-CN"/>
              <a:t>Agent</a:t>
            </a:r>
            <a:r>
              <a:rPr lang="zh-CN" altLang="en-US"/>
              <a:t>需要做什么</a:t>
            </a:r>
            <a:endParaRPr lang="zh-CN" altLang="en-US"/>
          </a:p>
        </p:txBody>
      </p:sp>
      <p:pic>
        <p:nvPicPr>
          <p:cNvPr id="5" name="图片 4" descr="upload_6254717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09" y="1627909"/>
            <a:ext cx="8927523" cy="2329295"/>
          </a:xfrm>
          <a:prstGeom prst="rect">
            <a:avLst/>
          </a:prstGeom>
        </p:spPr>
      </p:pic>
      <p:pic>
        <p:nvPicPr>
          <p:cNvPr id="7" name="图片 6" descr="upload_412903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409" y="4398818"/>
            <a:ext cx="2961409" cy="1974273"/>
          </a:xfrm>
          <a:prstGeom prst="rect">
            <a:avLst/>
          </a:prstGeom>
        </p:spPr>
      </p:pic>
      <p:pic>
        <p:nvPicPr>
          <p:cNvPr id="9" name="图片 8" descr="upload_8857573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77" y="4398818"/>
            <a:ext cx="3403023" cy="17491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Agent</a:t>
            </a:r>
            <a:r>
              <a:rPr lang="zh-CN" altLang="en-US">
                <a:sym typeface="+mn-ea"/>
              </a:rPr>
              <a:t>框架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3432349" y="2132369"/>
            <a:ext cx="5325341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/>
              <a:t>团队的力量  </a:t>
            </a:r>
            <a:r>
              <a:rPr lang="en-US" altLang="zh-CN"/>
              <a:t>Agent</a:t>
            </a:r>
            <a:r>
              <a:rPr lang="en-US" altLang="zh-CN">
                <a:solidFill>
                  <a:srgbClr val="ED7D31"/>
                </a:solidFill>
              </a:rPr>
              <a:t>S</a:t>
            </a:r>
            <a:endParaRPr lang="zh-CN" altLang="en-US">
              <a:solidFill>
                <a:srgbClr val="ED7D31"/>
              </a:solidFill>
            </a:endParaRPr>
          </a:p>
        </p:txBody>
      </p:sp>
      <p:pic>
        <p:nvPicPr>
          <p:cNvPr id="4" name="图片 3" descr="upload_7029892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1229591"/>
            <a:ext cx="10191750" cy="900545"/>
          </a:xfrm>
          <a:prstGeom prst="rect">
            <a:avLst/>
          </a:prstGeom>
        </p:spPr>
      </p:pic>
      <p:pic>
        <p:nvPicPr>
          <p:cNvPr id="9" name="图片 8" descr="upload_244709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86" y="2563091"/>
            <a:ext cx="9646227" cy="40264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经典场景</a:t>
            </a:r>
            <a:endParaRPr lang="zh-CN" altLang="en-US"/>
          </a:p>
        </p:txBody>
      </p:sp>
      <p:pic>
        <p:nvPicPr>
          <p:cNvPr id="6" name="图片 5" descr="upload_6489341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341" y="1281545"/>
            <a:ext cx="8148205" cy="51608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关键挑战和核心指标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056409" y="1420091"/>
          <a:ext cx="10087610" cy="3501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425"/>
                <a:gridCol w="8465185"/>
              </a:tblGrid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</a:rPr>
                        <a:t>挑战</a:t>
                      </a:r>
                      <a:endParaRPr lang="zh-CN" altLang="en-US" sz="14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rgbClr val="BDD7EE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</a:rPr>
                        <a:t>方案</a:t>
                      </a:r>
                      <a:endParaRPr lang="zh-CN" altLang="en-US" sz="14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solidFill>
                      <a:srgbClr val="BDD7EE">
                        <a:alpha val="36000"/>
                      </a:srgbClr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系统碎片化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抽象跨端中间层？硬件能力动态？针对高 / 中 / 低端机型分级适配功能（如低端机关闭视觉感知）。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隐私安全风险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全链路本地闭环，敏感数据加密存储，权限精细化控制，提供 “隐私模式”（禁用非必要感知）。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功耗过高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动态资源调度（低优先级任务后台批量处理），感知模块按需唤醒（精确定位按需开启）。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端侧算力有限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采用 “规则 + 小模型” 混合决策，利用闲时进行预决策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</a:tr>
              <a:tr h="583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用户体验割裂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场景化交互设计，与系统 UI 风格统一（如通知采用全局岛）。</a:t>
                      </a:r>
                      <a:endParaRPr lang="zh-CN" altLang="en-US" sz="1400"/>
                    </a:p>
                  </a:txBody>
                  <a:tcPr anchor="ctr">
                    <a:solidFill>
                      <a:srgbClr val="DEEBF7">
                        <a:alpha val="36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1" name="图片 10" descr="upload_5651317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409" y="5056909"/>
            <a:ext cx="10001250" cy="1099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期待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502477" y="2710295"/>
            <a:ext cx="6935932" cy="1775114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en-US" altLang="zh-CN" sz="2000"/>
              <a:t>AI</a:t>
            </a:r>
            <a:r>
              <a:rPr lang="zh-CN" altLang="en-US" sz="2000"/>
              <a:t>赛道永远在高速飙车</a:t>
            </a:r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r>
              <a:rPr lang="zh-CN" altLang="en-US" sz="2000"/>
              <a:t>有众多的挑战和机遇等待着大家</a:t>
            </a:r>
            <a:endParaRPr lang="zh-CN" altLang="en-US" sz="2000"/>
          </a:p>
          <a:p>
            <a:pPr algn="ctr"/>
            <a:endParaRPr lang="zh-CN" altLang="en-US" sz="2000"/>
          </a:p>
          <a:p>
            <a:pPr algn="ctr"/>
            <a:r>
              <a:rPr lang="zh-CN" altLang="en-US" sz="2000">
                <a:solidFill>
                  <a:srgbClr val="FF6900"/>
                </a:solidFill>
              </a:rPr>
              <a:t>期待新同学带来的新思想、新技术、新观念成就新变革</a:t>
            </a:r>
            <a:endParaRPr lang="zh-CN" altLang="en-US" sz="2000">
              <a:solidFill>
                <a:srgbClr val="FF6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主题1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</Words>
  <Application>WWO_feishu_20210926154337-7a32aff093</Application>
  <PresentationFormat>宽屏</PresentationFormat>
  <Paragraphs>108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印品黑体</vt:lpstr>
      <vt:lpstr>微软雅黑</vt:lpstr>
      <vt:lpstr>汉仪旗黑KW 55S</vt:lpstr>
      <vt:lpstr>Helvetica</vt:lpstr>
      <vt:lpstr>微软雅黑</vt:lpstr>
      <vt:lpstr>Inter</vt:lpstr>
      <vt:lpstr>汉仪中黑KW</vt:lpstr>
      <vt:lpstr>汉仪书宋二KW</vt:lpstr>
      <vt:lpstr>1_主题1</vt:lpstr>
      <vt:lpstr>AIOS 架构设计</vt:lpstr>
      <vt:lpstr>为什么需要AIOS</vt:lpstr>
      <vt:lpstr>AIOS架构要做什么 </vt:lpstr>
      <vt:lpstr>AI能力中心</vt:lpstr>
      <vt:lpstr>AI能力中心</vt:lpstr>
      <vt:lpstr>感知框架</vt:lpstr>
      <vt:lpstr>感知框架怎么做</vt:lpstr>
      <vt:lpstr>记忆框架怎么做</vt:lpstr>
      <vt:lpstr>记忆</vt:lpstr>
      <vt:lpstr>Agent框架</vt:lpstr>
      <vt:lpstr>Agent框架要做什么</vt:lpstr>
      <vt:lpstr>Agent框架</vt:lpstr>
      <vt:lpstr>经典场景</vt:lpstr>
      <vt:lpstr>关键挑战和核心指标</vt:lpstr>
      <vt:lpstr>期待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AIOS 架构设计</dc:title>
  <dc:creator>Mu</dc:creator>
  <cp:lastModifiedBy>WPS_1641813563</cp:lastModifiedBy>
  <cp:lastPrinted>2025-08-25T06:05:24Z</cp:lastPrinted>
  <dcterms:created xsi:type="dcterms:W3CDTF">2025-08-25T06:05:24Z</dcterms:created>
  <dcterms:modified xsi:type="dcterms:W3CDTF">2025-08-25T06:05:24Z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16a0f4e7-d244-4ac1-8660-acfe17408063</vt:lpwstr>
  </property>
  <property fmtid="{D5CDD505-2E9C-101B-9397-08002B2CF9AE}" pid="3" name="CWM69ca4bfb44e149828a754a5845000335">
    <vt:lpwstr>CWMDphbyPHPi2ck71smMfBtFw2WxMXIAbm7/iUrADPLYT0Fg6gfMwnk8ccQ2ZB86v4SXIXoF2yw710wXE1jMX9UPQ==</vt:lpwstr>
  </property>
  <property fmtid="{D5CDD505-2E9C-101B-9397-08002B2CF9AE}" pid="4" name="KSOProductBuildVer">
    <vt:lpwstr>2052-0.0.0.0</vt:lpwstr>
  </property>
  <property fmtid="{D5CDD505-2E9C-101B-9397-08002B2CF9AE}" pid="5" name="CWMc2c851d8cf5b44e7b6506e521971e6a1">
    <vt:lpwstr>CWMpHykO8yrXC0T6QvFN1d8IKQzXsO9IJshGpxi6zdc0NfWuYJYKR862Mhq2nNyTvXBjpIP4TBRACgBDFOuDB3prw==</vt:lpwstr>
  </property>
  <property fmtid="{D5CDD505-2E9C-101B-9397-08002B2CF9AE}" pid="6" name="CWM98e346b077a748f5af426e56dcef9f50">
    <vt:lpwstr>CWMMtdWk1TSkRCwsmdgnq1FrKISo30mgdpLb0cF3Iy2yumY0/8ZeX9X3Vb2ds2v2qFoste9kAz2tEda2ki1XyrWaQ==</vt:lpwstr>
  </property>
  <property fmtid="{D5CDD505-2E9C-101B-9397-08002B2CF9AE}" pid="7" name="CWMa4e881bb93ce47de80f29d825183cd24">
    <vt:lpwstr>CWM3UElC/v7QD/ZQAOe0yuYF9VL15fOJrPstapQCNduKj4fPo/8J8+Nkt0swspx0YhVDX+UEDwMtQRvJjnx/wYU4g==</vt:lpwstr>
  </property>
  <property fmtid="{D5CDD505-2E9C-101B-9397-08002B2CF9AE}" pid="8" name="CWMf5ff42e13cb34a028e74f578a416be24">
    <vt:lpwstr>CWMhTA30V78wfeCZFrwhUKvKtaM01I0Uk/2Obwd/S2Xjxjli6aFuJazxy2utuEMBC8vAC7sYTT4oyHWcz7sbDWoLg==</vt:lpwstr>
  </property>
  <property fmtid="{D5CDD505-2E9C-101B-9397-08002B2CF9AE}" pid="9" name="CWMfd6a4270ca0c48099d8496d272ec6597">
    <vt:lpwstr>CWMjUK9FTLjerF6ulNqhzrhnn4vRh5JPm/soetrW0Le1+oXrx8t5IRewQyZEhwOzUI40GTESuUdMCCP8mLzKUErYQ==</vt:lpwstr>
  </property>
  <property fmtid="{D5CDD505-2E9C-101B-9397-08002B2CF9AE}" pid="10" name="CWMc509d0d3b4544b21b10e8bf296577b2a">
    <vt:lpwstr>CWM/nw5jxXWDiiV3x/j6oIFP23nFSHhFxIkE5EJutyHEXny9/dt0vppSkml78j4Ob255WpE46C9PvbbUR+AQVLHFA==</vt:lpwstr>
  </property>
  <property fmtid="{D5CDD505-2E9C-101B-9397-08002B2CF9AE}" pid="11" name="CWMc9837ab0591f11ef80001bd500001bd5">
    <vt:lpwstr>CWMRdMej80992BDYARoFQrnf49H4axOEE+dmLbwCtZZcy89j4musZQGKLS35S4gHu623sdBBrq7JofdlfStuRQ8Pg==</vt:lpwstr>
  </property>
  <property fmtid="{D5CDD505-2E9C-101B-9397-08002B2CF9AE}" pid="12" name="fileWhereFroms">
    <vt:lpwstr>PpjeLB1gRN0lwrPqMaCTklj7y86plK29qUSUOXepriGIe3Zroi4V+a83RlYm6eGr9mwS9BxgK6vWIvSB1LDvTyKzO8sIvi2XyJmdBQxiGwiL1Kex5PfDuKQOg5o6epURBvuHc42uLKS8084avSBHnd3mNwCkX8ytCBZJh+zu77m+R4Avpz9ffLh+rRtVHo587UUMHpWDjjKrNby7gpu7c/pB4g/ekBvYcfOcPW31sEIh111jI94wV1fpSH3MBV/l9CmoY6FBxMvlv5MQrnYW9g==</vt:lpwstr>
  </property>
  <property fmtid="{D5CDD505-2E9C-101B-9397-08002B2CF9AE}" pid="13" name="ICV">
    <vt:lpwstr>B355D30A47D3364992CE92680947AA96_42</vt:lpwstr>
  </property>
  <property fmtid="{D5CDD505-2E9C-101B-9397-08002B2CF9AE}" pid="14" name="CWMd5413c4081a311f0800061f0000060f0">
    <vt:lpwstr>CWMB5h53sqey6EXoURplGQEI+G8lFDXcDq852rFGmYyedCV68sMkh85rhfnsevw01wTDauRvg9EwbVTR392bZnKKg==</vt:lpwstr>
  </property>
</Properties>
</file>